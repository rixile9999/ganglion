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589520" y="-274320"/>
            <a:ext cx="5120640" cy="7498079"/>
          </a:xfrm>
          <a:prstGeom prst="parallelogram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8732520" y="-365760"/>
            <a:ext cx="3474720" cy="7589520"/>
          </a:xfrm>
          <a:prstGeom prst="parallelogram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566928"/>
            <a:ext cx="1444752" cy="329184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M1-M3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6634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RLM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10512"/>
            <a:ext cx="6126480" cy="1417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ple SD Gothic Neo"/>
              </a:rPr>
              <a:t>Compact DSL로</a:t>
            </a:r>
            <a:br/>
            <a:r>
              <a:rPr sz="3000" b="1">
                <a:solidFill>
                  <a:srgbClr val="FFFFFF"/>
                </a:solidFill>
                <a:latin typeface="Apple SD Gothic Neo"/>
              </a:rPr>
              <a:t>Tool Calling 비용 줄이기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657600"/>
            <a:ext cx="5577840" cy="8686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E2E8F0"/>
                </a:solidFill>
                <a:latin typeface="Apple SD Gothic Neo"/>
              </a:rPr>
              <a:t>전체 tool schema를 매번 보내는 대신,</a:t>
            </a:r>
            <a:br/>
            <a:r>
              <a:rPr sz="1800" b="0">
                <a:solidFill>
                  <a:srgbClr val="E2E8F0"/>
                </a:solidFill>
                <a:latin typeface="Apple SD Gothic Neo"/>
              </a:rPr>
              <a:t>짧은 IR을 생성하고 validator가 안전하게 tool call로 변환한다.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User</a:t>
            </a:r>
            <a:br/>
            <a:r>
              <a:rPr sz="1250" b="1">
                <a:solidFill>
                  <a:srgbClr val="0F172A"/>
                </a:solidFill>
                <a:latin typeface="Apple SD Gothic Neo"/>
              </a:rPr>
              <a:t>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01952"/>
            <a:ext cx="1298448" cy="1005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Compact</a:t>
            </a:r>
            <a:br/>
            <a:r>
              <a:rPr sz="1250" b="1">
                <a:solidFill>
                  <a:srgbClr val="0F172A"/>
                </a:solidFill>
                <a:latin typeface="Apple SD Gothic Neo"/>
              </a:rPr>
              <a:t>DSL Catalog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901952"/>
            <a:ext cx="1298448" cy="1005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0" y="123444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JSON 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901952"/>
            <a:ext cx="1298448" cy="1005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379476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Validator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4462272"/>
            <a:ext cx="1298448" cy="1005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81160" y="3794760"/>
            <a:ext cx="1298448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Tool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4462272"/>
            <a:ext cx="1298448" cy="10058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699248" y="1618488"/>
            <a:ext cx="365760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90888" y="1618488"/>
            <a:ext cx="365760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229600" y="1993392"/>
            <a:ext cx="2212848" cy="1755647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4178808"/>
            <a:ext cx="566928" cy="0"/>
          </a:xfrm>
          <a:prstGeom prst="line">
            <a:avLst/>
          </a:prstGeom>
          <a:ln w="279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73952" y="5230368"/>
            <a:ext cx="498348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20" b="1">
                <a:solidFill>
                  <a:srgbClr val="E2E8F0"/>
                </a:solidFill>
                <a:latin typeface="Apple SD Gothic Neo"/>
              </a:rPr>
              <a:t>짧은 계획은 모델이 만들고,</a:t>
            </a:r>
            <a:br/>
            <a:r>
              <a:rPr sz="1320" b="1">
                <a:solidFill>
                  <a:srgbClr val="E2E8F0"/>
                </a:solidFill>
                <a:latin typeface="Apple SD Gothic Neo"/>
              </a:rPr>
              <a:t>안전한 실행 형식은 deterministic layer가 책임진다.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Compact IR for Tool Calling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ple SD Gothic Ne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6459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</a:rPr>
              <a:t>문제 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58521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pple SD Gothic Neo"/>
              </a:rPr>
              <a:t>Tool Calling의 숨은 세금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389888"/>
            <a:ext cx="795527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334155"/>
                </a:solidFill>
                <a:latin typeface="Apple SD Gothic Neo"/>
              </a:rPr>
              <a:t>도구가 많아질수록 모델은 사용하지 않을 schema까지 매 요청마다 읽는다.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331720"/>
            <a:ext cx="187451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0F172A"/>
                </a:solidFill>
                <a:latin typeface="Apple SD Gothic Neo"/>
              </a:rPr>
              <a:t>User prompt</a:t>
            </a:r>
            <a:br/>
            <a:r>
              <a:rPr sz="1350" b="1">
                <a:solidFill>
                  <a:srgbClr val="0F172A"/>
                </a:solidFill>
                <a:latin typeface="Apple SD Gothic Neo"/>
              </a:rPr>
              <a:t>“거실 불 켜줘”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2688336"/>
            <a:ext cx="59436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456432" y="3977639"/>
            <a:ext cx="1325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2736" y="410565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2736" y="427390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02736" y="4442155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2736" y="4610404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2736" y="4778654"/>
            <a:ext cx="102412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5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manageable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76672" y="3200400"/>
            <a:ext cx="13258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22976" y="3328416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2976" y="3508248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22976" y="3688080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2976" y="3867912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22976" y="4047744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2976" y="4227576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4407408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2976" y="4587240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22976" y="4767072"/>
            <a:ext cx="1024128" cy="502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095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20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heavy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286000"/>
            <a:ext cx="13258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3216" y="241401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43216" y="260885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43216" y="280369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3216" y="299852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43216" y="319336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43216" y="338820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3216" y="358304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43216" y="377787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43216" y="397271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43216" y="4167553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3216" y="4362391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43216" y="4557228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43216" y="4752066"/>
            <a:ext cx="1024128" cy="502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192" y="5257800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Apple SD Gothic Neo"/>
              </a:rPr>
              <a:t>50+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192" y="5550408"/>
            <a:ext cx="14173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Aptos"/>
              </a:rPr>
              <a:t>bottleneck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1901952"/>
            <a:ext cx="41148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Tool schema payload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69080" y="2139696"/>
            <a:ext cx="4663440" cy="0"/>
          </a:xfrm>
          <a:prstGeom prst="line">
            <a:avLst/>
          </a:prstGeom>
          <a:ln w="1651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138160" y="1874519"/>
            <a:ext cx="15544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EA580C"/>
                </a:solidFill>
                <a:latin typeface="Apple SD Gothic Neo"/>
              </a:rPr>
              <a:t>요청마다 반복 전송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2563EB"/>
                </a:solidFill>
                <a:latin typeface="Aptos"/>
              </a:rPr>
              <a:t>Token cost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34640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0D9488"/>
                </a:solidFill>
                <a:latin typeface="Aptos"/>
              </a:rPr>
              <a:t>Latency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F59E0B"/>
                </a:solidFill>
                <a:latin typeface="Aptos"/>
              </a:rPr>
              <a:t>Context pressure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14032" y="5989320"/>
            <a:ext cx="16642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50" b="1">
                <a:solidFill>
                  <a:srgbClr val="EA580C"/>
                </a:solidFill>
                <a:latin typeface="Aptos"/>
              </a:rPr>
              <a:t>Provider dependency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38360" y="960120"/>
            <a:ext cx="1783080" cy="4526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700" b="1">
                <a:solidFill>
                  <a:srgbClr val="FFFFFF"/>
                </a:solidFill>
                <a:latin typeface="Apple SD Gothic Neo"/>
              </a:rPr>
              <a:t>Schema는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기능 설명이지만,</a:t>
            </a:r>
            <a:br/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매 요청마다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반복되면</a:t>
            </a:r>
            <a:br/>
            <a:r>
              <a:rPr sz="1700" b="1">
                <a:solidFill>
                  <a:srgbClr val="FFFFFF"/>
                </a:solidFill>
                <a:latin typeface="Apple SD Gothic Neo"/>
              </a:rPr>
              <a:t>비용 구조가 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Intro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ple SD Gothic Ne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30352"/>
            <a:ext cx="4572000" cy="51206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왜 지금 중요한가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43000"/>
            <a:ext cx="8138160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650" b="1">
                <a:solidFill>
                  <a:srgbClr val="334155"/>
                </a:solidFill>
                <a:latin typeface="Apple SD Gothic Neo"/>
              </a:rPr>
              <a:t>MCP와 agent 환경에서는 “도구 수 증가”가 예외가 아니라 기본 조건이 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2084831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79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Tool 수의 기본값이 바뀐다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13432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5개가 아니라 20개, 50개, 100개 tool을 가진 agent가 자연스러워진다.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17520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3227832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79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비용은 한 번이 아니라 step마다 붙는다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456432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agent가 plan → tool call → observe를 반복할 때 schema 비용도 같이 반복된다.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160520"/>
            <a:ext cx="4800600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4370832"/>
            <a:ext cx="438912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97680"/>
            <a:ext cx="34747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20" b="1">
                <a:solidFill>
                  <a:srgbClr val="0F172A"/>
                </a:solidFill>
                <a:latin typeface="Apple SD Gothic Neo"/>
              </a:rPr>
              <a:t>스키마는 곧 병목이 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99431"/>
            <a:ext cx="361188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70" b="0">
                <a:solidFill>
                  <a:srgbClr val="334155"/>
                </a:solidFill>
                <a:latin typeface="Apple SD Gothic Neo"/>
              </a:rPr>
              <a:t>도구가 많아질수록 기능 설명보다 prefill·latency·context 압박이 커진다.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55648"/>
            <a:ext cx="429768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Aptos"/>
              </a:rPr>
              <a:t>Agent step마다 반복되는 schema tax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42316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2563EB"/>
                </a:solidFill>
                <a:latin typeface="Aptos"/>
              </a:rPr>
              <a:t>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42316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EA580C"/>
                </a:solidFill>
                <a:latin typeface="Aptos"/>
              </a:rPr>
              <a:t>Read</a:t>
            </a:r>
            <a:br/>
            <a:r>
              <a:rPr sz="1350" b="1">
                <a:solidFill>
                  <a:srgbClr val="EA580C"/>
                </a:solidFill>
                <a:latin typeface="Aptos"/>
              </a:rPr>
              <a:t>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388620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0D9488"/>
                </a:solidFill>
                <a:latin typeface="Aptos"/>
              </a:rPr>
              <a:t>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886200"/>
            <a:ext cx="1325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350" b="1">
                <a:solidFill>
                  <a:srgbClr val="F59E0B"/>
                </a:solidFill>
                <a:latin typeface="Aptos"/>
              </a:rPr>
              <a:t>Observe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2752344"/>
            <a:ext cx="45720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25712" y="3108960"/>
            <a:ext cx="0" cy="749808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973568" y="4215384"/>
            <a:ext cx="457200" cy="0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96912" y="3108960"/>
            <a:ext cx="0" cy="749808"/>
          </a:xfrm>
          <a:prstGeom prst="line">
            <a:avLst/>
          </a:prstGeom>
          <a:ln w="254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04120" y="2331720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935224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3538728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4142231"/>
            <a:ext cx="1115568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819" b="1">
                <a:solidFill>
                  <a:srgbClr val="EA580C"/>
                </a:solidFill>
                <a:latin typeface="Aptos"/>
              </a:rPr>
              <a:t>schema</a:t>
            </a:r>
            <a:br/>
            <a:r>
              <a:rPr sz="819" b="1">
                <a:solidFill>
                  <a:srgbClr val="EA580C"/>
                </a:solidFill>
                <a:latin typeface="Aptos"/>
              </a:rPr>
              <a:t>tax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802368" y="2761488"/>
            <a:ext cx="283464" cy="0"/>
          </a:xfrm>
          <a:prstGeom prst="line">
            <a:avLst/>
          </a:prstGeom>
          <a:ln w="254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85832" y="4892040"/>
            <a:ext cx="11430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EA580C"/>
                </a:solidFill>
                <a:latin typeface="Apple SD Gothic Neo"/>
              </a:rPr>
              <a:t>반복 지불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824728"/>
            <a:ext cx="10561320" cy="53035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900" b="1">
                <a:solidFill>
                  <a:srgbClr val="FFFFFF"/>
                </a:solidFill>
                <a:latin typeface="Apple SD Gothic Neo"/>
              </a:rPr>
              <a:t>도구가 많아지는 순간 tool schema는 기능 설명이 아니라 병목이 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41148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ple SD Gothic Neo"/>
              </a:rPr>
              <a:t>RLM POC · Intro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5029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ple SD Gothic Neo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