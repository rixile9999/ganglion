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0" r:id="rId21"/>
    <p:sldId id="260" r:id="rId11"/>
    <p:sldId id="261" r:id="rId12"/>
    <p:sldId id="271" r:id="rId22"/>
    <p:sldId id="262" r:id="rId13"/>
    <p:sldId id="272" r:id="rId2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5.xml"/><Relationship Id="rId22" Type="http://schemas.openxmlformats.org/officeDocument/2006/relationships/slide" Target="slides/slide8.xml"/><Relationship Id="rId23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589520" y="-274320"/>
            <a:ext cx="5120640" cy="7498079"/>
          </a:xfrm>
          <a:prstGeom prst="parallelogram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732520" y="-365760"/>
            <a:ext cx="3474720" cy="7589520"/>
          </a:xfrm>
          <a:prstGeom prst="parallelogram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66928"/>
            <a:ext cx="14447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M1-M3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6634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RLM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6126480" cy="1417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ple SD Gothic Neo"/>
              </a:rPr>
              <a:t>Compact DSL로</a:t>
            </a:r>
            <a:br/>
            <a:r>
              <a:rPr sz="3000" b="1">
                <a:solidFill>
                  <a:srgbClr val="FFFFFF"/>
                </a:solidFill>
                <a:latin typeface="Apple SD Gothic Neo"/>
              </a:rPr>
              <a:t>Tool Calling 비용 줄이기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657600"/>
            <a:ext cx="5577840" cy="8686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E2E8F0"/>
                </a:solidFill>
                <a:latin typeface="Apple SD Gothic Neo"/>
              </a:rPr>
              <a:t>전체 tool schema를 매번 보내는 대신,</a:t>
            </a:r>
            <a:br/>
            <a:r>
              <a:rPr sz="1800" b="0">
                <a:solidFill>
                  <a:srgbClr val="E2E8F0"/>
                </a:solidFill>
                <a:latin typeface="Apple SD Gothic Neo"/>
              </a:rPr>
              <a:t>짧은 IR을 생성하고 validator가 안전하게 tool call로 변환한다.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User</a:t>
            </a:r>
            <a:br/>
            <a:r>
              <a:rPr sz="1250" b="1">
                <a:solidFill>
                  <a:srgbClr val="0F172A"/>
                </a:solidFill>
                <a:latin typeface="Apple SD Gothic Neo"/>
              </a:rPr>
              <a:t>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01952"/>
            <a:ext cx="1298448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Compact</a:t>
            </a:r>
            <a:br/>
            <a:r>
              <a:rPr sz="1250" b="1">
                <a:solidFill>
                  <a:srgbClr val="0F172A"/>
                </a:solidFill>
                <a:latin typeface="Apple SD Gothic Neo"/>
              </a:rPr>
              <a:t>DSL Catalog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901952"/>
            <a:ext cx="1298448" cy="1005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0" y="123444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JSON 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901952"/>
            <a:ext cx="1298448" cy="1005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379476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Validator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4462272"/>
            <a:ext cx="1298448" cy="1005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81160" y="379476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Tool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4462272"/>
            <a:ext cx="1298448" cy="1005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699248" y="1618488"/>
            <a:ext cx="365760" cy="0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90888" y="1618488"/>
            <a:ext cx="365760" cy="0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229600" y="1993392"/>
            <a:ext cx="2212848" cy="1755647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4178808"/>
            <a:ext cx="566928" cy="0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73952" y="5230368"/>
            <a:ext cx="498348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20" b="1">
                <a:solidFill>
                  <a:srgbClr val="E2E8F0"/>
                </a:solidFill>
                <a:latin typeface="Apple SD Gothic Neo"/>
              </a:rPr>
              <a:t>짧은 계획은 모델이 만들고,</a:t>
            </a:r>
            <a:br/>
            <a:r>
              <a:rPr sz="1320" b="1">
                <a:solidFill>
                  <a:srgbClr val="E2E8F0"/>
                </a:solidFill>
                <a:latin typeface="Apple SD Gothic Neo"/>
              </a:rPr>
              <a:t>안전한 실행 형식은 deterministic layer가 책임진다.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ple SD Gothic Neo"/>
              </a:rPr>
              <a:t>RLM POC · Compact IR for Tool Calling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645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ple SD Gothic Neo"/>
              </a:rPr>
              <a:t>문제 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58521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ple SD Gothic Neo"/>
              </a:rPr>
              <a:t>Tool Calling의 숨은 세금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389888"/>
            <a:ext cx="7955279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34155"/>
                </a:solidFill>
                <a:latin typeface="Apple SD Gothic Neo"/>
              </a:rPr>
              <a:t>도구가 많아질수록 모델은 사용하지 않을 schema까지 매 요청마다 읽는다.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331720"/>
            <a:ext cx="187451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0F172A"/>
                </a:solidFill>
                <a:latin typeface="Apple SD Gothic Neo"/>
              </a:rPr>
              <a:t>User prompt</a:t>
            </a:r>
            <a:br/>
            <a:r>
              <a:rPr sz="1350" b="1">
                <a:solidFill>
                  <a:srgbClr val="0F172A"/>
                </a:solidFill>
                <a:latin typeface="Apple SD Gothic Neo"/>
              </a:rPr>
              <a:t>“거실 불 켜줘”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2688336"/>
            <a:ext cx="59436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456432" y="3977639"/>
            <a:ext cx="1325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2736" y="4105655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2736" y="4273905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2736" y="4442155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2736" y="4610404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2736" y="4778654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525780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5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5550408"/>
            <a:ext cx="1417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manageable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76672" y="3200400"/>
            <a:ext cx="13258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22976" y="3328416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2976" y="3508248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2976" y="3688080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2976" y="3867912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2976" y="4047744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2976" y="4227576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4407408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22976" y="4587240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22976" y="4767072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0952" y="525780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20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5550408"/>
            <a:ext cx="1417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heavy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286000"/>
            <a:ext cx="13258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43216" y="241401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43216" y="2608853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43216" y="2803691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43216" y="2998528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43216" y="319336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43216" y="3388203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3216" y="3583041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43216" y="3777878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43216" y="397271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43216" y="4167553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43216" y="4362391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43216" y="4557228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43216" y="475206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1192" y="525780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50+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51192" y="5550408"/>
            <a:ext cx="1417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bottleneck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1901952"/>
            <a:ext cx="4114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Tool schema payload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69080" y="2139696"/>
            <a:ext cx="4663440" cy="0"/>
          </a:xfrm>
          <a:prstGeom prst="line">
            <a:avLst/>
          </a:prstGeom>
          <a:ln w="1651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138160" y="1874519"/>
            <a:ext cx="1554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EA580C"/>
                </a:solidFill>
                <a:latin typeface="Apple SD Gothic Neo"/>
              </a:rPr>
              <a:t>요청마다 반복 전송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Token cost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34640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0D9488"/>
                </a:solidFill>
                <a:latin typeface="Aptos"/>
              </a:rPr>
              <a:t>Latency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0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F59E0B"/>
                </a:solidFill>
                <a:latin typeface="Aptos"/>
              </a:rPr>
              <a:t>Context pressure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14032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EA580C"/>
                </a:solidFill>
                <a:latin typeface="Aptos"/>
              </a:rPr>
              <a:t>Provider dependency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38360" y="960120"/>
            <a:ext cx="178308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Schema는</a:t>
            </a:r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기능 설명이지만,</a:t>
            </a:r>
            <a:br/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매 요청마다</a:t>
            </a:r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반복되면</a:t>
            </a:r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비용 구조가 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ple SD Gothic Neo"/>
              </a:rPr>
              <a:t>RLM POC · Intro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30352"/>
            <a:ext cx="4572000" cy="51206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왜 지금 중요한가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81381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334155"/>
                </a:solidFill>
                <a:latin typeface="Apple SD Gothic Neo"/>
              </a:rPr>
              <a:t>MCP와 agent 환경에서는 “도구 수 증가”가 예외가 아니라 기본 조건이 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48006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" y="2084831"/>
            <a:ext cx="43891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11679"/>
            <a:ext cx="3474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Tool 수의 기본값이 바뀐다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13432"/>
            <a:ext cx="3611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5개가 아니라 20개, 50개, 100개 tool을 가진 agent가 자연스러워진다.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17520"/>
            <a:ext cx="48006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3227832"/>
            <a:ext cx="43891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54679"/>
            <a:ext cx="3474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비용은 한 번이 아니라 step마다 붙는다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56432"/>
            <a:ext cx="3611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agent가 plan → tool call → observe를 반복할 때 schema 비용도 같이 반복된다.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160520"/>
            <a:ext cx="48006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" y="4370832"/>
            <a:ext cx="43891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97680"/>
            <a:ext cx="3474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스키마는 곧 병목이 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3611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도구가 많아질수록 기능 설명보다 prefill·latency·context 압박이 커진다.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55648"/>
            <a:ext cx="42976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Agent step마다 반복되는 schema tax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42316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2563EB"/>
                </a:solidFill>
                <a:latin typeface="Aptos"/>
              </a:rPr>
              <a:t>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42316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EA580C"/>
                </a:solidFill>
                <a:latin typeface="Aptos"/>
              </a:rPr>
              <a:t>Read</a:t>
            </a:r>
            <a:br/>
            <a:r>
              <a:rPr sz="1350" b="1">
                <a:solidFill>
                  <a:srgbClr val="EA580C"/>
                </a:solidFill>
                <a:latin typeface="Aptos"/>
              </a:rPr>
              <a:t>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388620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0D9488"/>
                </a:solidFill>
                <a:latin typeface="Aptos"/>
              </a:rPr>
              <a:t>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88620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F59E0B"/>
                </a:solidFill>
                <a:latin typeface="Aptos"/>
              </a:rPr>
              <a:t>Observe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73568" y="2752344"/>
            <a:ext cx="45720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25712" y="3108960"/>
            <a:ext cx="0" cy="749808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973568" y="4215384"/>
            <a:ext cx="45720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96912" y="3108960"/>
            <a:ext cx="0" cy="749808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04120" y="2331720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2935224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3538728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4142231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02368" y="2761488"/>
            <a:ext cx="283464" cy="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85832" y="4892040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EA580C"/>
                </a:solidFill>
                <a:latin typeface="Apple SD Gothic Neo"/>
              </a:rPr>
              <a:t>반복 지불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824728"/>
            <a:ext cx="10561320" cy="5303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900" b="1">
                <a:solidFill>
                  <a:srgbClr val="FFFFFF"/>
                </a:solidFill>
                <a:latin typeface="Apple SD Gothic Neo"/>
              </a:rPr>
              <a:t>도구가 많아지는 순간 tool schema는 기능 설명이 아니라 병목이 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ple SD Gothic Neo"/>
              </a:rPr>
              <a:t>RLM POC · Intro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CORE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왜 Compact DSL은 토큰 사용량을 줄이나?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모델에게는 “선택에 필요한 정보”만 읽히고, 실행 계약 검증은 deterministic validator로 옮긴다.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4892040" cy="3063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084831"/>
            <a:ext cx="17830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EA580C"/>
                </a:solidFill>
                <a:latin typeface="Aptos"/>
              </a:rPr>
              <a:t>Native function calling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32888"/>
            <a:ext cx="3977639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80" b="1">
                <a:solidFill>
                  <a:srgbClr val="0F172A"/>
                </a:solidFill>
                <a:latin typeface="Apple SD Gothic Neo"/>
              </a:rPr>
              <a:t>매 tool마다 JSON Schema 구조 반복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" y="2907792"/>
            <a:ext cx="416052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l"/>
            <a:r>
              <a:rPr sz="919" b="0">
                <a:solidFill>
                  <a:srgbClr val="334155"/>
                </a:solidFill>
                <a:latin typeface="Aptos"/>
              </a:rPr>
              <a:t>{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"type": "function",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"function": {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"name": "set_light",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"description": "...",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"parameters": {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  "type": "object",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  "properties": { ... },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  "required": [...],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  "additionalProperties": false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  }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  }</a:t>
            </a:r>
            <a:br/>
            <a:r>
              <a:rPr sz="919" b="0">
                <a:solidFill>
                  <a:srgbClr val="334155"/>
                </a:solidFill>
                <a:latin typeface="Apto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9672" y="1874519"/>
            <a:ext cx="4892040" cy="30632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93992" y="2084831"/>
            <a:ext cx="20116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0D9488"/>
                </a:solidFill>
                <a:latin typeface="Aptos"/>
              </a:rPr>
              <a:t>Compact JSON DSL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532888"/>
            <a:ext cx="3931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80" b="1">
                <a:solidFill>
                  <a:srgbClr val="0F172A"/>
                </a:solidFill>
                <a:latin typeface="Apple SD Gothic Neo"/>
              </a:rPr>
              <a:t>같은 의미를 한 줄 catalog로 압축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907792"/>
            <a:ext cx="416052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- set_light args {</a:t>
            </a:r>
            <a:br/>
            <a:r>
              <a:rPr sz="1200" b="0">
                <a:solidFill>
                  <a:srgbClr val="334155"/>
                </a:solidFill>
                <a:latin typeface="Aptos"/>
              </a:rPr>
              <a:t>  "room": room,</a:t>
            </a:r>
            <a:br/>
            <a:r>
              <a:rPr sz="1200" b="0">
                <a:solidFill>
                  <a:srgbClr val="334155"/>
                </a:solidFill>
                <a:latin typeface="Aptos"/>
              </a:rPr>
              <a:t>  "state": "on"|"off",</a:t>
            </a:r>
            <a:br/>
            <a:r>
              <a:rPr sz="1200" b="0">
                <a:solidFill>
                  <a:srgbClr val="334155"/>
                </a:solidFill>
                <a:latin typeface="Aptos"/>
              </a:rPr>
              <a:t>  "brightness": optional integer 0..100</a:t>
            </a:r>
            <a:br/>
            <a:r>
              <a:rPr sz="1200" b="0">
                <a:solidFill>
                  <a:srgbClr val="334155"/>
                </a:solidFill>
                <a:latin typeface="Aptos"/>
              </a:rPr>
              <a:t>}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50992" y="3401568"/>
            <a:ext cx="77724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97296" y="3081528"/>
            <a:ext cx="475488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334155"/>
                </a:solidFill>
                <a:latin typeface="Apple SD Gothic Neo"/>
              </a:rPr>
              <a:t>압축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239512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5349240"/>
            <a:ext cx="29260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40" b="1">
                <a:solidFill>
                  <a:srgbClr val="EA580C"/>
                </a:solidFill>
                <a:latin typeface="Apple SD Gothic Neo"/>
              </a:rPr>
              <a:t>반복 메타구조 제거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623560"/>
            <a:ext cx="2971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334155"/>
                </a:solidFill>
                <a:latin typeface="Apple SD Gothic Neo"/>
              </a:rPr>
              <a:t>`type`, `properties`, `required` 같은 schema 문구를 줄인다.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5239512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5349240"/>
            <a:ext cx="29260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40" b="1">
                <a:solidFill>
                  <a:srgbClr val="0D9488"/>
                </a:solidFill>
                <a:latin typeface="Apple SD Gothic Neo"/>
              </a:rPr>
              <a:t>공통 규칙 압축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5623560"/>
            <a:ext cx="2971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334155"/>
                </a:solidFill>
                <a:latin typeface="Apple SD Gothic Neo"/>
              </a:rPr>
              <a:t>enum과 validation rule을 짧은 catalog/rule로 표현한다.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5239512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5349240"/>
            <a:ext cx="29260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40" b="1">
                <a:solidFill>
                  <a:srgbClr val="2563EB"/>
                </a:solidFill>
                <a:latin typeface="Apple SD Gothic Neo"/>
              </a:rPr>
              <a:t>검증 책임 이동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623560"/>
            <a:ext cx="2971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334155"/>
                </a:solidFill>
                <a:latin typeface="Apple SD Gothic Neo"/>
              </a:rPr>
              <a:t>모델은 action plan만 만들고 validator가 안전성을 보장한다.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389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2412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DSL → code 매핑을 컴파일러 파이프라인으로 옮긴다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875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LLM은 자연어를 짧은 IR로 변환하고, IR 이후의 검증·정규화·실행 코드는 deterministic layer가 처리한다.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47088"/>
            <a:ext cx="4434840" cy="35844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084831"/>
            <a:ext cx="126187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40" b="1">
                <a:solidFill>
                  <a:srgbClr val="EA580C"/>
                </a:solidFill>
                <a:latin typeface="Aptos"/>
              </a:rPr>
              <a:t>LLM-heavy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42032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ple SD Gothic Neo"/>
              </a:rPr>
              <a:t>모델이 매번 떠안는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90088"/>
            <a:ext cx="3611880" cy="1234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Apple SD Gothic Neo"/>
              </a:rPr>
              <a:t>• 전체 tool schema 읽기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Apple SD Gothic Neo"/>
              </a:rPr>
              <a:t>• argument 구조와 enum 해석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Apple SD Gothic Neo"/>
              </a:rPr>
              <a:t>• range / required field 추론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Apple SD Gothic Neo"/>
              </a:rPr>
              <a:t>• 최종 tool-call JSON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663440"/>
            <a:ext cx="3520440" cy="38404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120" b="1">
                <a:solidFill>
                  <a:srgbClr val="FFFFFF"/>
                </a:solidFill>
                <a:latin typeface="Apple SD Gothic Neo"/>
              </a:rPr>
              <a:t>추론 비용과 context 비용이 LLM 쪽에 집중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85232" y="3611880"/>
            <a:ext cx="841248" cy="0"/>
          </a:xfrm>
          <a:prstGeom prst="line">
            <a:avLst/>
          </a:prstGeom>
          <a:ln w="279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13248" y="3246120"/>
            <a:ext cx="640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334155"/>
                </a:solidFill>
                <a:latin typeface="Apple SD Gothic Neo"/>
              </a:rPr>
              <a:t>책임 분리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47088"/>
            <a:ext cx="5166360" cy="35844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2084831"/>
            <a:ext cx="9144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40" b="1">
                <a:solidFill>
                  <a:srgbClr val="0D9488"/>
                </a:solidFill>
                <a:latin typeface="Aptos"/>
              </a:rPr>
              <a:t>RLM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42032"/>
            <a:ext cx="20574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ple SD Gothic Neo"/>
              </a:rPr>
              <a:t>LLM은 IR만 생성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3054096"/>
            <a:ext cx="960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2563EB"/>
                </a:solidFill>
                <a:latin typeface="Aptos"/>
              </a:rPr>
              <a:t>JSON DSL</a:t>
            </a:r>
            <a:br/>
            <a:r>
              <a:rPr sz="969" b="1">
                <a:solidFill>
                  <a:srgbClr val="2563EB"/>
                </a:solidFill>
                <a:latin typeface="Aptos"/>
              </a:rPr>
              <a:t>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5552" y="3054096"/>
            <a:ext cx="960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0D9488"/>
                </a:solidFill>
                <a:latin typeface="Aptos"/>
              </a:rPr>
              <a:t>Parse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3054096"/>
            <a:ext cx="960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0D9488"/>
                </a:solidFill>
                <a:latin typeface="Aptos"/>
              </a:rPr>
              <a:t>Validate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160520"/>
            <a:ext cx="960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4F46E5"/>
                </a:solidFill>
                <a:latin typeface="Aptos"/>
              </a:rPr>
              <a:t>Normalize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4160520"/>
            <a:ext cx="960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EA580C"/>
                </a:solidFill>
                <a:latin typeface="Aptos"/>
              </a:rPr>
              <a:t>Emit</a:t>
            </a:r>
            <a:br/>
            <a:r>
              <a:rPr sz="969" b="1">
                <a:solidFill>
                  <a:srgbClr val="EA580C"/>
                </a:solidFill>
                <a:latin typeface="Aptos"/>
              </a:rPr>
              <a:t>tool 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34656" y="3337560"/>
            <a:ext cx="274319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814816" y="3337560"/>
            <a:ext cx="54864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918704" y="3630168"/>
            <a:ext cx="1481328" cy="484632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75320" y="4443984"/>
            <a:ext cx="41148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0" y="4937760"/>
            <a:ext cx="41605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334155"/>
                </a:solidFill>
                <a:latin typeface="Aptos"/>
              </a:rPr>
              <a:t>parser / semantic validation / canonicalization / code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806440"/>
            <a:ext cx="10561320" cy="42062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20" b="1">
                <a:solidFill>
                  <a:srgbClr val="FFFFFF"/>
                </a:solidFill>
                <a:latin typeface="Apple SD Gothic Neo"/>
              </a:rPr>
              <a:t>핵심: “모호한 자연어 → 짧은 IR”은 LLM이, “IR → 안전한 실행 코드”는 컴파일러 테크닉이 담당한다.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EXPERIMENT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우리가 검증하려는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M1-M3는 정확도, schema scaling, latency를 순서대로 확인한 실험이다.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66928" cy="40233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560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정확도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36392"/>
            <a:ext cx="28346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Apple SD Gothic Neo"/>
              </a:rPr>
              <a:t>Compact DSL은 native function calling과 같은 tool-call 의미를 만들 수 있는가?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370832"/>
            <a:ext cx="123444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2563EB"/>
                </a:solidFill>
                <a:latin typeface="Aptos"/>
              </a:rPr>
              <a:t>M1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874519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90872" y="2103120"/>
            <a:ext cx="566928" cy="402336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697480"/>
            <a:ext cx="2560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토큰 비용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36392"/>
            <a:ext cx="28346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Apple SD Gothic Neo"/>
              </a:rPr>
              <a:t>Tool 수가 증가할수록 native schema 비용은 얼마나 커지는가?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4370832"/>
            <a:ext cx="123444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EA580C"/>
                </a:solidFill>
                <a:latin typeface="Aptos"/>
              </a:rPr>
              <a:t>M2 scaling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874519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67344" y="2103120"/>
            <a:ext cx="566928" cy="40233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697480"/>
            <a:ext cx="25603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지연 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136392"/>
            <a:ext cx="28346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Apple SD Gothic Neo"/>
              </a:rPr>
              <a:t>Token 감소가 실제 latency 개선으로도 이어지는가?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85632" y="4370832"/>
            <a:ext cx="123444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9" b="1">
                <a:solidFill>
                  <a:srgbClr val="0D9488"/>
                </a:solidFill>
                <a:latin typeface="Aptos"/>
              </a:rPr>
              <a:t>M3 repeat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623560"/>
            <a:ext cx="1046988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550" b="1">
                <a:solidFill>
                  <a:srgbClr val="FFFFFF"/>
                </a:solidFill>
                <a:latin typeface="Apple SD Gothic Neo"/>
              </a:rPr>
              <a:t>핵심 비교 기준은 모델 출력 포맷이 아니라, 최종 normalized ActionPlan이 같은가이다.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비교 대상: Native Function Calling vs Compact DSL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두 경로 모두 마지막에는 동일한 ActionPlan으로 정규화해 평가한다.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783080"/>
            <a:ext cx="1143000" cy="31089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EA580C"/>
                </a:solidFill>
                <a:latin typeface="Aptos"/>
              </a:rPr>
              <a:t>Native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User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EA580C"/>
                </a:solidFill>
                <a:latin typeface="Apple SD Gothic Neo"/>
              </a:rPr>
              <a:t>Full OpenAI</a:t>
            </a:r>
            <a:br/>
            <a:r>
              <a:rPr sz="1080" b="1">
                <a:solidFill>
                  <a:srgbClr val="EA580C"/>
                </a:solidFill>
                <a:latin typeface="Apple SD Gothic Neo"/>
              </a:rPr>
              <a:t>tool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Qwen native</a:t>
            </a:r>
            <a:br/>
            <a:r>
              <a:rPr sz="1080" b="1">
                <a:solidFill>
                  <a:srgbClr val="0F172A"/>
                </a:solidFill>
                <a:latin typeface="Apple SD Gothic Neo"/>
              </a:rPr>
              <a:t>tool calling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28232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JSON args</a:t>
            </a:r>
            <a:br/>
            <a:r>
              <a:rPr sz="1080" b="1">
                <a:solidFill>
                  <a:srgbClr val="0F172A"/>
                </a:solidFill>
                <a:latin typeface="Apple SD Gothic Neo"/>
              </a:rPr>
              <a:t>validator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224028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ActionPlan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39696" y="2578608"/>
            <a:ext cx="310896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22191" y="2578608"/>
            <a:ext cx="548641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42432" y="2578608"/>
            <a:ext cx="64008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54112" y="2578608"/>
            <a:ext cx="45720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4672" y="3977639"/>
            <a:ext cx="914400" cy="310896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0D9488"/>
                </a:solidFill>
                <a:latin typeface="Aptos"/>
              </a:rPr>
              <a:t>DSL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User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7168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D9488"/>
                </a:solidFill>
                <a:latin typeface="Apple SD Gothic Neo"/>
              </a:rPr>
              <a:t>Compact JSON</a:t>
            </a:r>
            <a:br/>
            <a:r>
              <a:rPr sz="1080" b="1">
                <a:solidFill>
                  <a:srgbClr val="0D9488"/>
                </a:solidFill>
                <a:latin typeface="Apple SD Gothic Neo"/>
              </a:rPr>
              <a:t>DSL catalog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Qwen structured</a:t>
            </a:r>
            <a:br/>
            <a:r>
              <a:rPr sz="1080" b="1">
                <a:solidFill>
                  <a:srgbClr val="0F172A"/>
                </a:solidFill>
                <a:latin typeface="Apple SD Gothic Neo"/>
              </a:rPr>
              <a:t>JSON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232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DSL</a:t>
            </a:r>
            <a:br/>
            <a:r>
              <a:rPr sz="1080" b="1">
                <a:solidFill>
                  <a:srgbClr val="0F172A"/>
                </a:solidFill>
                <a:latin typeface="Apple SD Gothic Neo"/>
              </a:rPr>
              <a:t>validator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4434840"/>
            <a:ext cx="13258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80" b="1">
                <a:solidFill>
                  <a:srgbClr val="0F172A"/>
                </a:solidFill>
                <a:latin typeface="Apple SD Gothic Neo"/>
              </a:rPr>
              <a:t>ActionPlan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39696" y="4773168"/>
            <a:ext cx="310896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22191" y="4773168"/>
            <a:ext cx="548641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42432" y="4773168"/>
            <a:ext cx="64008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54112" y="4773168"/>
            <a:ext cx="45720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02368" y="2057400"/>
            <a:ext cx="14173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3017520"/>
            <a:ext cx="9601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same</a:t>
            </a:r>
            <a:br/>
            <a:r>
              <a:rPr sz="1500" b="1">
                <a:solidFill>
                  <a:srgbClr val="0F172A"/>
                </a:solidFill>
                <a:latin typeface="Aptos"/>
              </a:rPr>
              <a:t>semantic</a:t>
            </a:r>
            <a:br/>
            <a:r>
              <a:rPr sz="1500" b="1">
                <a:solidFill>
                  <a:srgbClr val="0F172A"/>
                </a:solidFill>
                <a:latin typeface="Aptos"/>
              </a:rPr>
              <a:t>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806440"/>
            <a:ext cx="81381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34155"/>
                </a:solidFill>
                <a:latin typeface="Apple SD Gothic Neo"/>
              </a:rPr>
              <a:t>Exact match는 room/state/time/scene alias 정규화 이후 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389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MODEL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2412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LLM에게 실제로 시킨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875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모델에게 tool을 실행시키지 않고, user request를 ActionPlan JSON으로 변환하게 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52578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121408"/>
            <a:ext cx="114300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40" b="1">
                <a:solidFill>
                  <a:srgbClr val="2563EB"/>
                </a:solidFill>
                <a:latin typeface="Aptos"/>
              </a:rPr>
              <a:t>Input to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7860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60" b="1">
                <a:solidFill>
                  <a:srgbClr val="64748B"/>
                </a:solidFill>
                <a:latin typeface="Aptos"/>
              </a:rPr>
              <a:t>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38912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40" b="0">
                <a:solidFill>
                  <a:srgbClr val="334155"/>
                </a:solidFill>
                <a:latin typeface="Aptos"/>
              </a:rPr>
              <a:t>“You convert user requests into the JSON DSL below.</a:t>
            </a:r>
            <a:br/>
            <a:r>
              <a:rPr sz="1140" b="0">
                <a:solidFill>
                  <a:srgbClr val="334155"/>
                </a:solidFill>
                <a:latin typeface="Aptos"/>
              </a:rPr>
              <a:t>The response must be valid JSON.”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456432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+ compact DSL catalog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3803904"/>
            <a:ext cx="4434840" cy="62179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l"/>
            <a:r>
              <a:rPr sz="880" b="0">
                <a:solidFill>
                  <a:srgbClr val="334155"/>
                </a:solidFill>
                <a:latin typeface="Aptos"/>
              </a:rPr>
              <a:t>- set_light args {"room": room, "state": "on"|"off", ...}</a:t>
            </a:r>
            <a:br/>
            <a:r>
              <a:rPr sz="880" b="0">
                <a:solidFill>
                  <a:srgbClr val="334155"/>
                </a:solidFill>
                <a:latin typeface="Aptos"/>
              </a:rPr>
              <a:t>- schedule_light args {"room": room, "at": "HH:MM", ...}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81728"/>
            <a:ext cx="12801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60" b="1">
                <a:solidFill>
                  <a:srgbClr val="64748B"/>
                </a:solidFill>
                <a:latin typeface="Aptos"/>
              </a:rPr>
              <a:t>User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4681728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1">
                <a:solidFill>
                  <a:srgbClr val="0F172A"/>
                </a:solidFill>
                <a:latin typeface="Apple SD Gothic Neo"/>
              </a:rPr>
              <a:t>“거실 불 70%로 켜줘”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44768" y="3584448"/>
            <a:ext cx="640080" cy="0"/>
          </a:xfrm>
          <a:prstGeom prst="line">
            <a:avLst/>
          </a:prstGeom>
          <a:ln w="279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67728" y="1874519"/>
            <a:ext cx="45262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42048" y="2121408"/>
            <a:ext cx="1691640" cy="310896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40" b="1">
                <a:solidFill>
                  <a:srgbClr val="0D9488"/>
                </a:solidFill>
                <a:latin typeface="Aptos"/>
              </a:rPr>
              <a:t>Expected model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2596896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ActionPlan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2048" y="2999232"/>
            <a:ext cx="3611880" cy="16642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l"/>
            <a:r>
              <a:rPr sz="1019" b="0">
                <a:solidFill>
                  <a:srgbClr val="334155"/>
                </a:solidFill>
                <a:latin typeface="Aptos"/>
              </a:rPr>
              <a:t>{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"calls": [{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  "action": "set_light",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  "args": {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    "room": "living",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    "state": "on",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    "brightness": 70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  }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  }]</a:t>
            </a:r>
            <a:br/>
            <a:r>
              <a:rPr sz="1019" b="0">
                <a:solidFill>
                  <a:srgbClr val="334155"/>
                </a:solidFill>
                <a:latin typeface="Aptos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50992"/>
            <a:ext cx="10561320" cy="5303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40" b="1">
                <a:solidFill>
                  <a:srgbClr val="FFFFFF"/>
                </a:solidFill>
                <a:latin typeface="Apple SD Gothic Neo"/>
              </a:rPr>
              <a:t>LLM의 task boundary: 실행하지 않는다 · Python/API 코드를 만들지 않는다 · 짧은 action + args 계획만 만든다.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DATASET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무엇을 어떻게 평가했나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IoT light control domain에서 deterministic synthetic dataset으로 통제된 비교를 수행했다.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Dataset: 500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set_light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2441448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2441448"/>
            <a:ext cx="324612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9552" y="2404872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8833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schedule_light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916936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2916936"/>
            <a:ext cx="2524760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38191" y="2880360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6382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get_light_state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392424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4560" y="3392424"/>
            <a:ext cx="18034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6832" y="3355848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3931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list_devices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3867912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3867912"/>
            <a:ext cx="72136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4791" y="3831336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create_scene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4343400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4343400"/>
            <a:ext cx="721360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4791" y="4306824"/>
            <a:ext cx="1188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40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96128" y="178308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448" y="2029968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8736" y="2395728"/>
            <a:ext cx="4480560" cy="1051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syntax_valid_rate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exact_match_rate after normalization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action_match_rate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input/output tokens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334155"/>
                </a:solidFill>
                <a:latin typeface="Apple SD Gothic Neo"/>
              </a:rPr>
              <a:t>• latency mean / p50 / p95 / stddev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96128" y="406908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4279392"/>
            <a:ext cx="2651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D9488"/>
                </a:solidFill>
                <a:latin typeface="Aptos"/>
              </a:rPr>
              <a:t>Normalization examples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4736592"/>
            <a:ext cx="4480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334155"/>
                </a:solidFill>
                <a:latin typeface="Apple SD Gothic Neo"/>
              </a:rPr>
              <a:t>“주방” → kitchen     “70%” → 70     “영화 모드” → movie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19379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5321807"/>
            <a:ext cx="15453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Language mix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5559552"/>
            <a:ext cx="154533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Aptos"/>
              </a:rPr>
              <a:t>325 / 175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" y="5907024"/>
            <a:ext cx="1545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Korean-mixed / English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34640" y="519379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232" y="5321807"/>
            <a:ext cx="15453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Rooms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9232" y="5559552"/>
            <a:ext cx="154533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2" y="5907024"/>
            <a:ext cx="1545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living, bedroom, kitchen...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2040" y="519379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56631" y="5321807"/>
            <a:ext cx="15453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631" y="5559552"/>
            <a:ext cx="154533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Aptos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56631" y="5907024"/>
            <a:ext cx="1545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light-control tools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389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EVALUATION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2412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Exact match는 무엇을 맞췄다는 뜻인가?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875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raw 문자열이 아니라 validator가 만든 normalized ActionPlan을 expected ActionPlan과 비교한다.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80" b="1">
                <a:solidFill>
                  <a:srgbClr val="2563EB"/>
                </a:solidFill>
                <a:latin typeface="Aptos"/>
              </a:rPr>
              <a:t>Raw model</a:t>
            </a:r>
            <a:br/>
            <a:r>
              <a:rPr sz="980" b="1">
                <a:solidFill>
                  <a:srgbClr val="2563EB"/>
                </a:solidFill>
                <a:latin typeface="Aptos"/>
              </a:rPr>
              <a:t>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21488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80" b="1">
                <a:solidFill>
                  <a:srgbClr val="0D9488"/>
                </a:solidFill>
                <a:latin typeface="Aptos"/>
              </a:rPr>
              <a:t>JSON parse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1488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80" b="1">
                <a:solidFill>
                  <a:srgbClr val="0D9488"/>
                </a:solidFill>
                <a:latin typeface="Aptos"/>
              </a:rPr>
              <a:t>Validate</a:t>
            </a:r>
            <a:br/>
            <a:r>
              <a:rPr sz="980" b="1">
                <a:solidFill>
                  <a:srgbClr val="0D9488"/>
                </a:solidFill>
                <a:latin typeface="Aptos"/>
              </a:rPr>
              <a:t>args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21488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80" b="1">
                <a:solidFill>
                  <a:srgbClr val="4F46E5"/>
                </a:solidFill>
                <a:latin typeface="Aptos"/>
              </a:rPr>
              <a:t>Normalize</a:t>
            </a:r>
            <a:br/>
            <a:r>
              <a:rPr sz="980" b="1">
                <a:solidFill>
                  <a:srgbClr val="4F46E5"/>
                </a:solidFill>
                <a:latin typeface="Aptos"/>
              </a:rPr>
              <a:t>aliases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1488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80" b="1">
                <a:solidFill>
                  <a:srgbClr val="EA580C"/>
                </a:solidFill>
                <a:latin typeface="Aptos"/>
              </a:rPr>
              <a:t>ActionPlan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14884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80" b="1">
                <a:solidFill>
                  <a:srgbClr val="0F172A"/>
                </a:solidFill>
                <a:latin typeface="Aptos"/>
              </a:rPr>
              <a:t>Compare to</a:t>
            </a:r>
            <a:br/>
            <a:r>
              <a:rPr sz="980" b="1">
                <a:solidFill>
                  <a:srgbClr val="0F172A"/>
                </a:solidFill>
                <a:latin typeface="Aptos"/>
              </a:rPr>
              <a:t>expected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2487168"/>
            <a:ext cx="54864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49039" y="2487168"/>
            <a:ext cx="365761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03520" y="2487168"/>
            <a:ext cx="36576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0" y="2487168"/>
            <a:ext cx="45720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03920" y="2487168"/>
            <a:ext cx="59436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352044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12463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syntax_valid_rate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2651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0" b="0">
                <a:solidFill>
                  <a:srgbClr val="334155"/>
                </a:solidFill>
                <a:latin typeface="Apple SD Gothic Neo"/>
              </a:rPr>
              <a:t>JSON parse + DSL validation 성공률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35424" y="352044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3712463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action_match_rate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4023360"/>
            <a:ext cx="2651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0" b="0">
                <a:solidFill>
                  <a:srgbClr val="334155"/>
                </a:solidFill>
                <a:latin typeface="Apple SD Gothic Neo"/>
              </a:rPr>
              <a:t>call 개수/순서와 action name이 일치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52044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3712463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Aptos"/>
              </a:rPr>
              <a:t>exact_match_rate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023360"/>
            <a:ext cx="2651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0" b="0">
                <a:solidFill>
                  <a:srgbClr val="334155"/>
                </a:solidFill>
                <a:latin typeface="Apple SD Gothic Neo"/>
              </a:rPr>
              <a:t>action + canonical args + nested calls까지 완전 일치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983480"/>
            <a:ext cx="10561320" cy="7772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212080"/>
            <a:ext cx="1188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1">
                <a:solidFill>
                  <a:srgbClr val="F59E0B"/>
                </a:solidFill>
                <a:latin typeface="Apple SD Gothic Neo"/>
              </a:rPr>
              <a:t>정규화 예시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212080"/>
            <a:ext cx="8046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20" b="1">
                <a:solidFill>
                  <a:srgbClr val="334155"/>
                </a:solidFill>
                <a:latin typeface="Apple SD Gothic Neo"/>
              </a:rPr>
              <a:t>“주방” → kitchen    ·    “70%” → 70    ·    “영화 모드” → movie    ·    true → "on"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5943600"/>
            <a:ext cx="10561320" cy="32918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250" b="1">
                <a:solidFill>
                  <a:srgbClr val="FFFFFF"/>
                </a:solidFill>
                <a:latin typeface="Apple SD Gothic Neo"/>
              </a:rPr>
              <a:t>즉, 표현 방식이 조금 달라도 동일한 canonical tool-call 의미이면 exact match로 인정한다.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M1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5-tool baseline: 정확도와 기본 token cost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먼저 가장 작은 IoT light toolset에서 native와 DSL이 같은 의미의 tool call을 만드는지 확인했다.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47088"/>
            <a:ext cx="29260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Aptos"/>
              </a:rPr>
              <a:t>Toolset: iot_light_5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395728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2563EB"/>
                </a:solidFill>
                <a:latin typeface="Aptos"/>
              </a:rPr>
              <a:t>list_devices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825496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0D9488"/>
                </a:solidFill>
                <a:latin typeface="Aptos"/>
              </a:rPr>
              <a:t>get_light_state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255264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2563EB"/>
                </a:solidFill>
                <a:latin typeface="Aptos"/>
              </a:rPr>
              <a:t>set_light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3685032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0D9488"/>
                </a:solidFill>
                <a:latin typeface="Aptos"/>
              </a:rPr>
              <a:t>schedule_light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4114800"/>
            <a:ext cx="15727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960" b="1">
                <a:solidFill>
                  <a:srgbClr val="2563EB"/>
                </a:solidFill>
                <a:latin typeface="Aptos"/>
              </a:rPr>
              <a:t>create_scene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783080"/>
            <a:ext cx="6903720" cy="3310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029968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Qwen API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2542032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542032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qwen3.6-plus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2935224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DSL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935224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response_format={"type":"json_object"}, thinking 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3328415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Native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3328415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OpenAI-compatible tools, tool_choice="auto"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3721608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Sample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721608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50 representative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4114800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64748B"/>
                </a:solidFill>
                <a:latin typeface="Aptos"/>
              </a:rPr>
              <a:t>Offline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4114800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ple SD Gothic Neo"/>
              </a:rPr>
              <a:t>500 prompts with deterministic rules runner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5559552"/>
            <a:ext cx="9738360" cy="5303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70" b="1">
                <a:solidFill>
                  <a:srgbClr val="FFFFFF"/>
                </a:solidFill>
                <a:latin typeface="Apple SD Gothic Neo"/>
              </a:rPr>
              <a:t>목적: 정확도 손실 없이 compact DSL이 native tool calling보다 입력 토큰을 줄이는지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M2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Schema size만 키운 통제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Prompt 난이도와 정답 분포를 고정하고, tool schema 크기 증가가 token cost에 미치는 영향만 분리했다.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87952" y="1874519"/>
            <a:ext cx="3886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340" b="1">
                <a:solidFill>
                  <a:srgbClr val="0F172A"/>
                </a:solidFill>
                <a:latin typeface="Apple SD Gothic Neo"/>
              </a:rPr>
              <a:t>동일한 500개 IoT light prompts</a:t>
            </a:r>
            <a:br/>
            <a:r>
              <a:rPr sz="1340" b="1">
                <a:solidFill>
                  <a:srgbClr val="0F172A"/>
                </a:solidFill>
                <a:latin typeface="Apple SD Gothic Neo"/>
              </a:rPr>
              <a:t>정답 action은 계속 5종 light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73552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493008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Aptos"/>
              </a:rPr>
              <a:t>iot_light_5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813048"/>
            <a:ext cx="17830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5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912" y="3273552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3493008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D9488"/>
                </a:solidFill>
                <a:latin typeface="Aptos"/>
              </a:rPr>
              <a:t>home_iot_20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5504" y="3813048"/>
            <a:ext cx="17830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20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3273552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2872" y="3493008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EA580C"/>
                </a:solidFill>
                <a:latin typeface="Aptos"/>
              </a:rPr>
              <a:t>smart_home_50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3813048"/>
            <a:ext cx="17830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50 tools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82112" y="3886200"/>
            <a:ext cx="1700784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60336" y="3886200"/>
            <a:ext cx="1719072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" y="5166360"/>
            <a:ext cx="5120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67528"/>
            <a:ext cx="5943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ple SD Gothic Neo"/>
              </a:rPr>
              <a:t>측정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367528"/>
            <a:ext cx="3749039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Apple SD Gothic Neo"/>
              </a:rPr>
              <a:t>각 tier에서 DSL path와 Native path를 50건씩 실행해 input/output tokens와 accuracy를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516636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5367528"/>
            <a:ext cx="685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EA580C"/>
                </a:solidFill>
                <a:latin typeface="Aptos"/>
              </a:rPr>
              <a:t>Caveat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367528"/>
            <a:ext cx="3429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Apple SD Gothic Neo"/>
              </a:rPr>
              <a:t>이 실험은 irrelevant tool 증가에 따른 schema 비용 측정이며, 50개 tool 전체 selection 평가는 후속 과제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M3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Latency 반복 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단일 API latency는 노이즈가 커서, 동일 조건을 반복해 평균과 분산을 확인했다.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965960"/>
            <a:ext cx="480060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50 prompts × 5 repeats × 2 paths</a:t>
            </a:r>
            <a:br/>
            <a:r>
              <a:rPr sz="2200" b="1">
                <a:solidFill>
                  <a:srgbClr val="2563EB"/>
                </a:solidFill>
                <a:latin typeface="Aptos"/>
              </a:rPr>
              <a:t>= 500 Qwen API 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3675887"/>
            <a:ext cx="43159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13632"/>
            <a:ext cx="1371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Aptos"/>
              </a:rPr>
              <a:t>DSL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43400"/>
            <a:ext cx="333756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334155"/>
                </a:solidFill>
                <a:latin typeface="Apple SD Gothic Neo"/>
              </a:rPr>
              <a:t>250 latency samples</a:t>
            </a:r>
            <a:br/>
            <a:r>
              <a:rPr sz="1280" b="0">
                <a:solidFill>
                  <a:srgbClr val="334155"/>
                </a:solidFill>
                <a:latin typeface="Apple SD Gothic Neo"/>
              </a:rPr>
              <a:t>Compact catalog + structured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675887"/>
            <a:ext cx="43159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3913632"/>
            <a:ext cx="1554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Aptos"/>
              </a:rPr>
              <a:t>Native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4343400"/>
            <a:ext cx="34290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334155"/>
                </a:solidFill>
                <a:latin typeface="Apple SD Gothic Neo"/>
              </a:rPr>
              <a:t>250 latency samples</a:t>
            </a:r>
            <a:br/>
            <a:r>
              <a:rPr sz="1280" b="0">
                <a:solidFill>
                  <a:srgbClr val="334155"/>
                </a:solidFill>
                <a:latin typeface="Apple SD Gothic Neo"/>
              </a:rPr>
              <a:t>Full tool schema + native tool calling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4334256"/>
            <a:ext cx="502920" cy="0"/>
          </a:xfrm>
          <a:prstGeom prst="line">
            <a:avLst/>
          </a:prstGeom>
          <a:ln w="228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5641848"/>
            <a:ext cx="9802368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50" b="1">
                <a:solidFill>
                  <a:srgbClr val="FFFFFF"/>
                </a:solidFill>
                <a:latin typeface="Apple SD Gothic Neo"/>
              </a:rPr>
              <a:t>각 case는 5회 모두 expected ActionPlan과 일치해야 exact_match로 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M1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5-tool baseline: 정확도 유지 + token 절감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동일한 50건 sample에서 DSL과 native 모두 정확도를 유지했고, DSL은 입력 토큰을 약 절반 줄였다.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874519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025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DSL exact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240279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Aptos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5877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50 / 50 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232" y="1874519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3824" y="20025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Native exact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2240279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Aptos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3824" y="25877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50 / 50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1874519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3" y="20025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Input token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3" y="2240279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46.0%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3" y="25877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Native 대비 DSL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88352" y="1874519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0025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Total token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2240279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Aptos"/>
              </a:rPr>
              <a:t>45.9%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25877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Native 대비 DSL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32004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Input tokens / 50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3192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Native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4160520"/>
            <a:ext cx="566928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4160520"/>
            <a:ext cx="5669280" cy="3108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123944"/>
            <a:ext cx="11887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40,307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6360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DSL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864608"/>
            <a:ext cx="566928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4864608"/>
            <a:ext cx="306017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56488" y="4828032"/>
            <a:ext cx="11887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21,757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90688" y="3749039"/>
            <a:ext cx="33375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5008" y="4005072"/>
            <a:ext cx="685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Apple SD Gothic Neo"/>
              </a:rPr>
              <a:t>해석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4407408"/>
            <a:ext cx="26974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작은 5-tool 조건에서도 full schema 전달 비용은 이미 크다. Compact DSL은 정확도 손실 없이 이 비용을 낮췄다.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Tool 수가 늘수록 native schema 비용이 급증한다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같은 50개 user prompt를 처리했을 뿐인데, native input token은 5 tools에서 50 tools로 약 5.7배 증가했다.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74519"/>
            <a:ext cx="30175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Input tokens / 50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96312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5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2505456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519" y="2505456"/>
            <a:ext cx="935912" cy="182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432303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Aptos"/>
              </a:rPr>
              <a:t>Native 41,507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2779775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19" y="2779775"/>
            <a:ext cx="513131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706623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DSL 22,757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6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20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3200400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4519" y="3200400"/>
            <a:ext cx="2462433" cy="182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127248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Aptos"/>
              </a:rPr>
              <a:t>Native 109,207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474720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74519" y="3474720"/>
            <a:ext cx="922383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401568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DSL 40,907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50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3895344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74519" y="3895344"/>
            <a:ext cx="5303520" cy="182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822191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EA580C"/>
                </a:solidFill>
                <a:latin typeface="Aptos"/>
              </a:rPr>
              <a:t>Native 235,207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4169663"/>
            <a:ext cx="530352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74519" y="4169663"/>
            <a:ext cx="1669860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4096511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D9488"/>
                </a:solidFill>
                <a:latin typeface="Aptos"/>
              </a:rPr>
              <a:t>DSL 74,057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2832" y="1938528"/>
            <a:ext cx="2148840" cy="187451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219456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EA580C"/>
                </a:solidFill>
                <a:latin typeface="Aptos"/>
              </a:rPr>
              <a:t>Native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542032"/>
            <a:ext cx="16002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ptos"/>
              </a:rPr>
              <a:t>41K → 235K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999232"/>
            <a:ext cx="15087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EA580C"/>
                </a:solidFill>
                <a:latin typeface="Apple SD Gothic Neo"/>
              </a:rPr>
              <a:t>약 5.7x 증가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2832" y="4133087"/>
            <a:ext cx="2148840" cy="126187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435254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D9488"/>
                </a:solidFill>
                <a:latin typeface="Aptos"/>
              </a:rPr>
              <a:t>DSL saving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700016"/>
            <a:ext cx="16916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Aptos"/>
              </a:rPr>
              <a:t>45.2% → 68.5%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5760720"/>
            <a:ext cx="10222992" cy="42062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20" b="1">
                <a:solidFill>
                  <a:srgbClr val="FFFFFF"/>
                </a:solidFill>
                <a:latin typeface="Apple SD Gothic Neo"/>
              </a:rPr>
              <a:t>Function calling은 사용하지 않는 tool schema도 매 요청마다 context에 포함한다.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M3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Token 감소는 latency 개선 신호로 이어졌다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50 prompts × 5 repeats 기준, DSL path는 native보다 평균 19.0% 빠르고 분산도 낮았다.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20116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Mean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4144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Native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670048"/>
            <a:ext cx="5029200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77440" y="2670048"/>
            <a:ext cx="5029200" cy="365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2633472"/>
            <a:ext cx="118872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1,782.29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735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DSL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3502152"/>
            <a:ext cx="5029200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3502152"/>
            <a:ext cx="4071775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8087" y="3465576"/>
            <a:ext cx="118872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334155"/>
                </a:solidFill>
                <a:latin typeface="Aptos"/>
              </a:rPr>
              <a:t>1,442.99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084831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2212848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Mean improvement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450591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19.0%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798063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DSL faster than native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47504" y="2084831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2096" y="2212848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Stddev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2450591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Aptos"/>
              </a:rPr>
              <a:t>24.5%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2096" y="2798063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more stable latency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347472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6027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Samples /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3840480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Aptos"/>
              </a:rPr>
              <a:t>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41879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50 prompts × 5 repeats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47504" y="347472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12096" y="3602736"/>
            <a:ext cx="16367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Exact 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3840480"/>
            <a:ext cx="163677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Aptos"/>
              </a:rPr>
              <a:t>100% / 98%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4187952"/>
            <a:ext cx="16367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ple SD Gothic Neo"/>
              </a:rPr>
              <a:t>DSL / Native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5193792"/>
            <a:ext cx="10469880" cy="6583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해석: 입력 token이 줄면 prefill 비용이 줄고, tool-calling 후처리 부담도 낮아질 가능성이 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ple SD Gothic Neo"/>
              </a:rPr>
              <a:t>M1-M3 중간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9601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34155"/>
                </a:solidFill>
                <a:latin typeface="Apple SD Gothic Neo"/>
              </a:rPr>
              <a:t>Compact DSL은 tool calling을 대체한다기보다, schema 전달 비용을 줄이는 adapter layer로 가능성을 보였다.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74519"/>
            <a:ext cx="548640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5" y="2084831"/>
            <a:ext cx="402336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2020824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정확도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313432"/>
            <a:ext cx="4251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ple SD Gothic Neo"/>
              </a:rPr>
              <a:t>5-tool baseline에서 DSL path는 native와 같은 수준의 exact match를 달성했다.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0087"/>
            <a:ext cx="548640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2415" y="3200399"/>
            <a:ext cx="402336" cy="329184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3136391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Schema scaling에 강함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428999"/>
            <a:ext cx="4251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ple SD Gothic Neo"/>
              </a:rPr>
              <a:t>도구 수가 5 → 50으로 늘수록 native 대비 input token 절감률은 45.2% → 68.5%로 확대됐다.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105656"/>
            <a:ext cx="548640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2415" y="4315968"/>
            <a:ext cx="402336" cy="329184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425196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Latency 개선 신호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4544568"/>
            <a:ext cx="4251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ple SD Gothic Neo"/>
              </a:rPr>
              <a:t>반복 측정에서 DSL path는 평균 latency 19.0% 개선, stddev 24.5% 감소를 보였다.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874519"/>
            <a:ext cx="4160520" cy="3063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148840"/>
            <a:ext cx="20116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ple SD Gothic Neo"/>
              </a:rPr>
              <a:t>다음 검증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633472"/>
            <a:ext cx="3429000" cy="1417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80">
                <a:solidFill>
                  <a:srgbClr val="334155"/>
                </a:solidFill>
                <a:latin typeface="Apple SD Gothic Neo"/>
              </a:rPr>
              <a:t>• 20/50개 tool 전체 action selection dataset 추가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334155"/>
                </a:solidFill>
                <a:latin typeface="Apple SD Gothic Neo"/>
              </a:rPr>
              <a:t>• MCP tool schema → DSL catalog 자동 생성 prototype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334155"/>
                </a:solidFill>
                <a:latin typeface="Apple SD Gothic Neo"/>
              </a:rPr>
              <a:t>• adversarial / multi-call case로 repair loop 재검증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334155"/>
                </a:solidFill>
                <a:latin typeface="Apple SD Gothic Neo"/>
              </a:rPr>
              <a:t>• API raw artifact 저장으로 재현성 보강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760720"/>
            <a:ext cx="10222992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/>
          <a:lstStyle/>
          <a:p>
            <a:pPr algn="ctr"/>
            <a:r>
              <a:rPr sz="1440" b="1">
                <a:solidFill>
                  <a:srgbClr val="FFFFFF"/>
                </a:solidFill>
                <a:latin typeface="Apple SD Gothic Neo"/>
              </a:rPr>
              <a:t>요약: 도구가 많아질수록 “짧은 IR + deterministic validator”의 구조적 이점이 커진다.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RLM POC · M1-M3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