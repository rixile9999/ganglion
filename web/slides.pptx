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 안녕하십니까. 오늘 발표할 연구 주제는 Ganglion 프로젝트로, 에지 디바이스 환경에서 경량 언어 모델이 어떻게 하면 고비용·고지연의 툴 스키마 오버헤드를 극복하고 대형 모델급의 정확도로 툴 호출(Tool Calling)을 수행할 수 있을지에 대한 시스템-모델 공동 설계 연구입니다.</a:t>
            </a:r>
          </a:p>
          <a:p/>
          <a:p>
            <a:r>
              <a:t>저희 프레임워크는 소형 모델의 학습 파이프라인인 Reflex-LM과 호스트 단의 검증/보정을 맡는 Myelin Compiler의 협력을 핵심 메커니즘으로 취합니다.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연구의 핵심 가설은 두 가지입니다. 첫째, 도구 명세 전체를 매번 프롬프트에 실어 나르는 대신, 압축된 중간 언어인 Action IR을 사용해 토큰을 극적으로 줄이면서도 정확도를 유지할 수 있는가?</a:t>
            </a:r>
          </a:p>
          <a:p/>
          <a:p>
            <a:r>
              <a:t>둘째, 소형 모델의 추론 한계를 모델 가중치 튜닝과 호스트 컴파일러 최적화의 하이브리드 결합으로 메울 수 있는가 하는 점입니다. 개발자가 기능 명세(Spec)만 던지면 학습 데이터 생성부터 최종 서빙 아티팩트까지 자동 생성하는 Spec-Driven Model Factory의 비전을 담고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시스템 아키텍처는 보시는 바와 같이 9단계의 순환 루프(9-Stage Closed Loop)로 구현되어 있으며, 이를 생물학적 신경절 조직에 빗대어 세 가지 모듈로 분리했습니다.</a:t>
            </a:r>
          </a:p>
          <a:p/>
          <a:p>
            <a:r>
              <a:t>자극을 수용하고 변환하는 Dendrite(Contract), 실질적 추론 발화를 수행하는 Soma(LM), 그리고 실행 로그를 분석하고 오류를 정적/동적으로 교정하는 Glia(Analyzer) 레이어로 구성되어 모듈 간 결합도를 최소화했습니다.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모듈인 학습 페이즈(Learning Phase)입니다. 도구 명세가 들어오면 자동으로 다양한 학습 템플릿과 합성 데이터를 생성합니다.</a:t>
            </a:r>
          </a:p>
          <a:p/>
          <a:p>
            <a:r>
              <a:t>이후 극소량의 골드 데이터셋을 통해 초소형 모델(Reflex-LM)에 SFT를 적용하여 포맷 학습을 끝내고, 툴 간의 정확한 선택 선호도를 높이기 위해 DPO 정렬 파이프라인까지 연동 가능한 구조를 완비했습니다.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핵심 모듈인 컴파일러 패스(Compiler Passes)입니다. 저희는 모델의 생성을 그냥 방치하지 않고 컴파일 타임 최적화를 적용했습니다.</a:t>
            </a:r>
          </a:p>
          <a:p/>
          <a:p>
            <a:r>
              <a:t>첫째로, 도구 명세로부터 EBNF 문법을 실시간 생성하여 디코딩 시점에서 유효한 Action IR만 출력되도록 토큰 마스킹을 수행합니다. 둘째로, 그럼에도 발생하는 인자 누락이나 논리 에러는 호스트 단의 Myelin Compiler가 감지하여 디폴트 값을 동적으로 주입하거나, 에러 로그 피드백을 통해 런타임 재시도를 유도하는 이중 방어 체계를 갖췄습니다.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모듈인 셀프 부트스트랩 데이터 루프입니다. 에이전트의 수행 기록은 모두 Trace 데이터 모델로 수집됩니다. 이후 결정론적 분류기인 Taxonomy를 통해 오류가 파싱 에러인지, 인자 누락인지를 체계적으로 라벨링합니다.</a:t>
            </a:r>
          </a:p>
          <a:p/>
          <a:p>
            <a:r>
              <a:t>최종적으로 보정이나 재시도를 거쳐 '성공으로 복구된 Action IR' 로그를 정제하여 다음 세대 모델의 SFT 데이터로 재피딩(Re-feeding)함으로써 모델을 점점 강건하게 진화시키는 자가 증강 루프를 지원합니다.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저희가 수행한 정량적 평가 결과입니다. 자체 IoT 도메인 평가에서는 50개 도구 확장 시 입력 토큰을 68.5% 절감하여 스케일링 효율을 증명했고, 평균 Latency를 19% 단축함과 동시에 속도의 편차도 줄였습니다.</a:t>
            </a:r>
          </a:p>
          <a:p/>
          <a:p>
            <a:r>
              <a:t>특히 Qwen 0.6B 초소형 모델 기준 Berkeley Function Calling Benchmark(BFCL v4) 평가에서, 기존 Native tool-calling baseline의 31.4% 대비 압도적인 91.2%의 AST Match 종합 정확도(+59.8%pp)를 기록하였습니다.</a:t>
            </a:r>
          </a:p>
          <a:p/>
          <a:p>
            <a:r>
              <a:t>또한 호출 거부 문맥(Irrelevance)에서도 No-Call 정확도 100%를 달성하였으며, 이는 명세 기반 SFT와 Myelin Compiler의 사후 규칙 보정(Post-Correction) 조합이 초소형 모델의 한계를 완전히 극복할 수 있음을 증명합니다.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향후 개발 및 연구 계획(TBD)입니다. 엔지니어링 측면에서는 모듈 리네이밍 마이그레이션과 함께 범용 도구 표준 프로토콜인 MCP 연동 테스트를 준비 중입니다.</a:t>
            </a:r>
          </a:p>
          <a:p/>
          <a:p>
            <a:r>
              <a:t>학술적으로는 Holdout 세트에서 보이는 오버피팅을 방지하기 위한 데이터 다양성 증강 기법을 연구하고, 저희가 확보한 강력한 Verifier 환경을 활용해 GRPO 기반의 강화학습을 Reflex-LM에 적용하여 추론 성능을 추가로 극대화할 생각입니다.</a:t>
            </a:r>
          </a:p>
          <a:p/>
          <a:p>
            <a:r>
              <a:t>이번 학기에 논문 초안 작성을 목표로 하고 있으며, 시스템적인 기여도를 부각해 MLSys 2026 투고를 생각하고 있는데, 교수님의 의견을 여쭙고 싶습니다.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Rectangle 1"/>
          <p:cNvSpPr/>
          <p:nvPr/>
        </p:nvSpPr>
        <p:spPr>
          <a:xfrm>
            <a:off x="457200" y="457200"/>
            <a:ext cx="11274552" cy="5943600"/>
          </a:xfrm>
          <a:prstGeom prst="rect">
            <a:avLst/>
          </a:prstGeom>
          <a:noFill/>
          <a:ln w="12700">
            <a:solidFill>
              <a:srgbClr val="2A2A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645920"/>
            <a:ext cx="3200400" cy="365760"/>
          </a:xfrm>
          <a:prstGeom prst="rect">
            <a:avLst/>
          </a:prstGeom>
          <a:solidFill>
            <a:srgbClr val="181814"/>
          </a:solidFill>
          <a:ln w="12700">
            <a:solidFill>
              <a:srgbClr val="7DD8C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7DD8C6"/>
                </a:solidFill>
                <a:latin typeface="IBM Plex Mono"/>
              </a:defRPr>
            </a:pPr>
            <a:r>
              <a:t>MLSYS / NEURIPS RESEARCH OUTLINE</a:t>
            </a:r>
          </a:p>
        </p:txBody>
      </p:sp>
      <p:sp>
        <p:nvSpPr>
          <p:cNvPr id="4" name="TextBox 3"/>
          <p:cNvSpPr txBox="1"/>
          <p:nvPr/>
        </p:nvSpPr>
        <p:spPr>
          <a:xfrm>
            <a:off x="1371600" y="2194560"/>
            <a:ext cx="9418320" cy="1645920"/>
          </a:xfrm>
          <a:prstGeom prst="rect">
            <a:avLst/>
          </a:prstGeom>
          <a:noFill/>
        </p:spPr>
        <p:txBody>
          <a:bodyPr wrap="square" lIns="0" rIns="0" tIns="0" bIns="0">
            <a:spAutoFit/>
          </a:bodyPr>
          <a:lstStyle/>
          <a:p>
            <a:pPr>
              <a:defRPr sz="3600" b="1">
                <a:solidFill>
                  <a:srgbClr val="FFFCF0"/>
                </a:solidFill>
                <a:latin typeface="IBM Plex Mono"/>
              </a:defRPr>
            </a:pPr>
            <a:r>
              <a:t>Ganglion: </a:t>
            </a:r>
            <a:r>
              <a:rPr sz="3600" b="1">
                <a:solidFill>
                  <a:srgbClr val="C3E88D"/>
                </a:solidFill>
                <a:latin typeface="IBM Plex Mono"/>
              </a:rPr>
              <a:t>Spec-Driven Model Factory</a:t>
            </a:r>
            <a:r>
              <a:rPr sz="3600" b="1">
                <a:solidFill>
                  <a:srgbClr val="FFFCF0"/>
                </a:solidFill>
                <a:latin typeface="IBM Plex Mono"/>
              </a:rPr>
              <a:t>
for Edge AI Tool Calling</a:t>
            </a:r>
          </a:p>
        </p:txBody>
      </p:sp>
      <p:sp>
        <p:nvSpPr>
          <p:cNvPr id="5" name="TextBox 4"/>
          <p:cNvSpPr txBox="1"/>
          <p:nvPr/>
        </p:nvSpPr>
        <p:spPr>
          <a:xfrm>
            <a:off x="1371600" y="3931920"/>
            <a:ext cx="9418320" cy="914400"/>
          </a:xfrm>
          <a:prstGeom prst="rect">
            <a:avLst/>
          </a:prstGeom>
          <a:noFill/>
        </p:spPr>
        <p:txBody>
          <a:bodyPr wrap="square" lIns="0" rIns="0" tIns="0" bIns="0">
            <a:spAutoFit/>
          </a:bodyPr>
          <a:lstStyle/>
          <a:p>
            <a:pPr>
              <a:defRPr sz="1500">
                <a:solidFill>
                  <a:srgbClr val="9A9485"/>
                </a:solidFill>
                <a:latin typeface="Arial"/>
              </a:defRPr>
            </a:pPr>
            <a:r>
              <a:t>중간 표현인 Action IR과 검증기인 Myelin Compiler의 공동 설계를 통한</a:t>
            </a:r>
            <a:br/>
            <a:r>
              <a:t>경량 언어 모델(Reflex-LM)의 툴 호출 가속화 및 강건성 확보 프레임워크</a:t>
            </a:r>
          </a:p>
        </p:txBody>
      </p:sp>
      <p:sp>
        <p:nvSpPr>
          <p:cNvPr id="6" name="TextBox 5"/>
          <p:cNvSpPr txBox="1"/>
          <p:nvPr/>
        </p:nvSpPr>
        <p:spPr>
          <a:xfrm>
            <a:off x="1371600" y="5029200"/>
            <a:ext cx="9418320" cy="731520"/>
          </a:xfrm>
          <a:prstGeom prst="rect">
            <a:avLst/>
          </a:prstGeom>
          <a:noFill/>
        </p:spPr>
        <p:txBody>
          <a:bodyPr wrap="square" lIns="0" rIns="0" tIns="0" bIns="0">
            <a:spAutoFit/>
          </a:bodyPr>
          <a:lstStyle/>
          <a:p>
            <a:pPr>
              <a:defRPr sz="1200">
                <a:solidFill>
                  <a:srgbClr val="5C564B"/>
                </a:solidFill>
                <a:latin typeface="IBM Plex Mono"/>
              </a:defRPr>
            </a:pPr>
            <a:r>
              <a:t>발표자: [이름]      |      지도교수: [교수명] 교수님</a:t>
            </a:r>
            <a:br/>
            <a:r>
              <a:t>GANGLION // SYSTEMS CO-DESIGN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TextBox 1"/>
          <p:cNvSpPr txBox="1"/>
          <p:nvPr/>
        </p:nvSpPr>
        <p:spPr>
          <a:xfrm>
            <a:off x="685800" y="228600"/>
            <a:ext cx="7315200" cy="320040"/>
          </a:xfrm>
          <a:prstGeom prst="rect">
            <a:avLst/>
          </a:prstGeom>
          <a:noFill/>
        </p:spPr>
        <p:txBody>
          <a:bodyPr wrap="square" lIns="0" rIns="0" tIns="0" bIns="0">
            <a:spAutoFit/>
          </a:bodyPr>
          <a:lstStyle/>
          <a:p>
            <a:pPr>
              <a:defRPr sz="1000" b="1">
                <a:solidFill>
                  <a:srgbClr val="7DD8C6"/>
                </a:solidFill>
                <a:latin typeface="IBM Plex Mono"/>
              </a:defRPr>
            </a:pPr>
            <a:r>
              <a:t>CORE CONCEPT</a:t>
            </a:r>
          </a:p>
        </p:txBody>
      </p:sp>
      <p:sp>
        <p:nvSpPr>
          <p:cNvPr id="3" name="TextBox 2"/>
          <p:cNvSpPr txBox="1"/>
          <p:nvPr/>
        </p:nvSpPr>
        <p:spPr>
          <a:xfrm>
            <a:off x="685800" y="502920"/>
            <a:ext cx="8229600" cy="640080"/>
          </a:xfrm>
          <a:prstGeom prst="rect">
            <a:avLst/>
          </a:prstGeom>
          <a:noFill/>
        </p:spPr>
        <p:txBody>
          <a:bodyPr wrap="square" lIns="0" rIns="0" tIns="0" bIns="0">
            <a:spAutoFit/>
          </a:bodyPr>
          <a:lstStyle/>
          <a:p>
            <a:pPr>
              <a:defRPr sz="2400" b="1">
                <a:solidFill>
                  <a:srgbClr val="FFFCF0"/>
                </a:solidFill>
                <a:latin typeface="IBM Plex Mono"/>
              </a:defRPr>
            </a:pPr>
            <a:r>
              <a:t>연구 핵심 컨셉 및 가설</a:t>
            </a:r>
          </a:p>
        </p:txBody>
      </p:sp>
      <p:sp>
        <p:nvSpPr>
          <p:cNvPr id="4" name="TextBox 3"/>
          <p:cNvSpPr txBox="1"/>
          <p:nvPr/>
        </p:nvSpPr>
        <p:spPr>
          <a:xfrm>
            <a:off x="9601200" y="502920"/>
            <a:ext cx="1828800" cy="640080"/>
          </a:xfrm>
          <a:prstGeom prst="rect">
            <a:avLst/>
          </a:prstGeom>
          <a:noFill/>
        </p:spPr>
        <p:txBody>
          <a:bodyPr wrap="square" lIns="0" rIns="0" tIns="0" bIns="0">
            <a:spAutoFit/>
          </a:bodyPr>
          <a:lstStyle/>
          <a:p>
            <a:pPr algn="r">
              <a:defRPr sz="1100">
                <a:solidFill>
                  <a:srgbClr val="5C564B"/>
                </a:solidFill>
                <a:latin typeface="IBM Plex Mono"/>
              </a:defRPr>
            </a:pPr>
            <a:r>
              <a:t>[ 02 / 08 ]</a:t>
            </a:r>
          </a:p>
        </p:txBody>
      </p:sp>
      <p:cxnSp>
        <p:nvCxnSpPr>
          <p:cNvPr id="5" name="Connector 4"/>
          <p:cNvCxnSpPr/>
          <p:nvPr/>
        </p:nvCxnSpPr>
        <p:spPr>
          <a:xfrm>
            <a:off x="685800" y="118872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85800" y="1463040"/>
            <a:ext cx="5303520" cy="2011680"/>
          </a:xfrm>
          <a:prstGeom prst="rect">
            <a:avLst/>
          </a:prstGeom>
          <a:solidFill>
            <a:srgbClr val="181814"/>
          </a:solidFill>
          <a:ln w="19050">
            <a:solidFill>
              <a:srgbClr val="3D3D3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700" b="1">
                <a:solidFill>
                  <a:srgbClr val="C3E88D"/>
                </a:solidFill>
                <a:latin typeface="IBM Plex Mono"/>
              </a:defRPr>
            </a:pPr>
            <a:r>
              <a:t>› Action IR 중심의 발화</a:t>
            </a:r>
          </a:p>
          <a:p>
            <a:pPr>
              <a:defRPr sz="1250">
                <a:solidFill>
                  <a:srgbClr val="E8E4D4"/>
                </a:solidFill>
                <a:latin typeface="Arial"/>
              </a:defRPr>
            </a:pPr>
            <a:r>
              <a:t>모델이 장황한 API Schema 전체를 분석하고 출력하는 대신, 극도로 규격화되고 압축된 중간 표현(Action IR)만을 출력하게 제약하여 토큰 소모를 최소화함.</a:t>
            </a:r>
          </a:p>
        </p:txBody>
      </p:sp>
      <p:sp>
        <p:nvSpPr>
          <p:cNvPr id="7" name="Rectangle 6"/>
          <p:cNvSpPr/>
          <p:nvPr/>
        </p:nvSpPr>
        <p:spPr>
          <a:xfrm>
            <a:off x="6199632" y="1463040"/>
            <a:ext cx="5303520" cy="2011680"/>
          </a:xfrm>
          <a:prstGeom prst="rect">
            <a:avLst/>
          </a:prstGeom>
          <a:solidFill>
            <a:srgbClr val="181814"/>
          </a:solidFill>
          <a:ln w="19050">
            <a:solidFill>
              <a:srgbClr val="3D3D3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700" b="1">
                <a:solidFill>
                  <a:srgbClr val="C3E88D"/>
                </a:solidFill>
                <a:latin typeface="IBM Plex Mono"/>
              </a:defRPr>
            </a:pPr>
            <a:r>
              <a:t>› Spec-Driven Model Factory</a:t>
            </a:r>
          </a:p>
          <a:p>
            <a:pPr>
              <a:defRPr sz="1250">
                <a:solidFill>
                  <a:srgbClr val="E8E4D4"/>
                </a:solidFill>
                <a:latin typeface="Arial"/>
              </a:defRPr>
            </a:pPr>
            <a:r>
              <a:t>도구 Catalog 명세 하나만으로 학습데이터 합성, SFT/DPO 모델 파인튜닝, 디코딩 EBNF 문법 규칙 제어 생성을 자동으로 구축하는 통합 팩토리 플랫폼.</a:t>
            </a:r>
          </a:p>
        </p:txBody>
      </p:sp>
      <p:sp>
        <p:nvSpPr>
          <p:cNvPr id="8" name="Rectangle 7"/>
          <p:cNvSpPr/>
          <p:nvPr/>
        </p:nvSpPr>
        <p:spPr>
          <a:xfrm>
            <a:off x="685800" y="3749039"/>
            <a:ext cx="5303520" cy="2011680"/>
          </a:xfrm>
          <a:prstGeom prst="rect">
            <a:avLst/>
          </a:prstGeom>
          <a:solidFill>
            <a:srgbClr val="181814"/>
          </a:solidFill>
          <a:ln w="19050">
            <a:solidFill>
              <a:srgbClr val="3D3D3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700" b="1">
                <a:solidFill>
                  <a:srgbClr val="C3E88D"/>
                </a:solidFill>
                <a:latin typeface="IBM Plex Mono"/>
              </a:defRPr>
            </a:pPr>
            <a:r>
              <a:t>› Tuning &amp; Compilation 하이브리드</a:t>
            </a:r>
          </a:p>
          <a:p>
            <a:pPr>
              <a:defRPr sz="1250">
                <a:solidFill>
                  <a:srgbClr val="E8E4D4"/>
                </a:solidFill>
                <a:latin typeface="Arial"/>
              </a:defRPr>
            </a:pPr>
            <a:r>
              <a:t>경량화된 가중치 튜닝(Reflex-LM)과 호스트단의 정적/동적 검증 컴파일러 패스(Myelin Compiler)를 결합하여 소형 모델 추론 성능의 근본적 오버헤드를 보완.</a:t>
            </a:r>
          </a:p>
        </p:txBody>
      </p:sp>
      <p:sp>
        <p:nvSpPr>
          <p:cNvPr id="9" name="Rectangle 8"/>
          <p:cNvSpPr/>
          <p:nvPr/>
        </p:nvSpPr>
        <p:spPr>
          <a:xfrm>
            <a:off x="6199632" y="3749039"/>
            <a:ext cx="5303520" cy="2011680"/>
          </a:xfrm>
          <a:prstGeom prst="rect">
            <a:avLst/>
          </a:prstGeom>
          <a:solidFill>
            <a:srgbClr val="181814"/>
          </a:solidFill>
          <a:ln w="19050">
            <a:solidFill>
              <a:srgbClr val="3D3D3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700" b="1">
                <a:solidFill>
                  <a:srgbClr val="C3E88D"/>
                </a:solidFill>
                <a:latin typeface="IBM Plex Mono"/>
              </a:defRPr>
            </a:pPr>
            <a:r>
              <a:t>› 핵심 가치 극대화</a:t>
            </a:r>
          </a:p>
          <a:p>
            <a:pPr>
              <a:defRPr sz="1250">
                <a:solidFill>
                  <a:srgbClr val="E8E4D4"/>
                </a:solidFill>
                <a:latin typeface="Arial"/>
              </a:defRPr>
            </a:pPr>
            <a:r>
              <a:t>Edge 기기의 리소스 제약 속에서 추론 토큰 소모량의 비약적인 절감(68%↑), Latency 단축(19%↑), 그리고 컴파일 검증을 통한 AST 일치율의 강건함을 증명함.</a:t>
            </a:r>
          </a:p>
        </p:txBody>
      </p:sp>
      <p:cxnSp>
        <p:nvCxnSpPr>
          <p:cNvPr id="10" name="Connector 9"/>
          <p:cNvCxnSpPr/>
          <p:nvPr/>
        </p:nvCxnSpPr>
        <p:spPr>
          <a:xfrm>
            <a:off x="685800" y="612648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6263640"/>
            <a:ext cx="5486400" cy="365760"/>
          </a:xfrm>
          <a:prstGeom prst="rect">
            <a:avLst/>
          </a:prstGeom>
          <a:noFill/>
        </p:spPr>
        <p:txBody>
          <a:bodyPr wrap="square" lIns="0" rIns="0" tIns="0" bIns="0">
            <a:spAutoFit/>
          </a:bodyPr>
          <a:lstStyle/>
          <a:p>
            <a:pPr>
              <a:defRPr sz="1000">
                <a:solidFill>
                  <a:srgbClr val="5C564B"/>
                </a:solidFill>
                <a:latin typeface="IBM Plex Mono"/>
              </a:defRPr>
            </a:pPr>
            <a:r>
              <a:t>GANGLION // SYSTEMS CO-DESIGN</a:t>
            </a:r>
          </a:p>
        </p:txBody>
      </p:sp>
      <p:sp>
        <p:nvSpPr>
          <p:cNvPr id="12" name="TextBox 11"/>
          <p:cNvSpPr txBox="1"/>
          <p:nvPr/>
        </p:nvSpPr>
        <p:spPr>
          <a:xfrm>
            <a:off x="8686800" y="6263640"/>
            <a:ext cx="2816352" cy="365760"/>
          </a:xfrm>
          <a:prstGeom prst="rect">
            <a:avLst/>
          </a:prstGeom>
          <a:noFill/>
        </p:spPr>
        <p:txBody>
          <a:bodyPr wrap="square" lIns="0" rIns="0" tIns="0" bIns="0">
            <a:spAutoFit/>
          </a:bodyPr>
          <a:lstStyle/>
          <a:p>
            <a:pPr algn="r">
              <a:defRPr sz="1000">
                <a:solidFill>
                  <a:srgbClr val="5C564B"/>
                </a:solidFill>
                <a:latin typeface="IBM Plex Mono"/>
              </a:defRPr>
            </a:pPr>
            <a:r>
              <a:t>MAY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TextBox 1"/>
          <p:cNvSpPr txBox="1"/>
          <p:nvPr/>
        </p:nvSpPr>
        <p:spPr>
          <a:xfrm>
            <a:off x="685800" y="228600"/>
            <a:ext cx="7315200" cy="320040"/>
          </a:xfrm>
          <a:prstGeom prst="rect">
            <a:avLst/>
          </a:prstGeom>
          <a:noFill/>
        </p:spPr>
        <p:txBody>
          <a:bodyPr wrap="square" lIns="0" rIns="0" tIns="0" bIns="0">
            <a:spAutoFit/>
          </a:bodyPr>
          <a:lstStyle/>
          <a:p>
            <a:pPr>
              <a:defRPr sz="1000" b="1">
                <a:solidFill>
                  <a:srgbClr val="7DD8C6"/>
                </a:solidFill>
                <a:latin typeface="IBM Plex Mono"/>
              </a:defRPr>
            </a:pPr>
            <a:r>
              <a:t>SYSTEM PIPELINE</a:t>
            </a:r>
          </a:p>
        </p:txBody>
      </p:sp>
      <p:sp>
        <p:nvSpPr>
          <p:cNvPr id="3" name="TextBox 2"/>
          <p:cNvSpPr txBox="1"/>
          <p:nvPr/>
        </p:nvSpPr>
        <p:spPr>
          <a:xfrm>
            <a:off x="685800" y="502920"/>
            <a:ext cx="8229600" cy="640080"/>
          </a:xfrm>
          <a:prstGeom prst="rect">
            <a:avLst/>
          </a:prstGeom>
          <a:noFill/>
        </p:spPr>
        <p:txBody>
          <a:bodyPr wrap="square" lIns="0" rIns="0" tIns="0" bIns="0">
            <a:spAutoFit/>
          </a:bodyPr>
          <a:lstStyle/>
          <a:p>
            <a:pPr>
              <a:defRPr sz="2400" b="1">
                <a:solidFill>
                  <a:srgbClr val="FFFCF0"/>
                </a:solidFill>
                <a:latin typeface="IBM Plex Mono"/>
              </a:defRPr>
            </a:pPr>
            <a:r>
              <a:t>9-Stage Closed-Loop Pipeline</a:t>
            </a:r>
          </a:p>
        </p:txBody>
      </p:sp>
      <p:sp>
        <p:nvSpPr>
          <p:cNvPr id="4" name="TextBox 3"/>
          <p:cNvSpPr txBox="1"/>
          <p:nvPr/>
        </p:nvSpPr>
        <p:spPr>
          <a:xfrm>
            <a:off x="9601200" y="502920"/>
            <a:ext cx="1828800" cy="640080"/>
          </a:xfrm>
          <a:prstGeom prst="rect">
            <a:avLst/>
          </a:prstGeom>
          <a:noFill/>
        </p:spPr>
        <p:txBody>
          <a:bodyPr wrap="square" lIns="0" rIns="0" tIns="0" bIns="0">
            <a:spAutoFit/>
          </a:bodyPr>
          <a:lstStyle/>
          <a:p>
            <a:pPr algn="r">
              <a:defRPr sz="1100">
                <a:solidFill>
                  <a:srgbClr val="5C564B"/>
                </a:solidFill>
                <a:latin typeface="IBM Plex Mono"/>
              </a:defRPr>
            </a:pPr>
            <a:r>
              <a:t>[ 03 / 08 ]</a:t>
            </a:r>
          </a:p>
        </p:txBody>
      </p:sp>
      <p:cxnSp>
        <p:nvCxnSpPr>
          <p:cNvPr id="5" name="Connector 4"/>
          <p:cNvCxnSpPr/>
          <p:nvPr/>
        </p:nvCxnSpPr>
        <p:spPr>
          <a:xfrm>
            <a:off x="685800" y="118872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85800" y="1645920"/>
            <a:ext cx="1737360" cy="914400"/>
          </a:xfrm>
          <a:prstGeom prst="rect">
            <a:avLst/>
          </a:prstGeom>
          <a:solidFill>
            <a:srgbClr val="181814"/>
          </a:solidFill>
          <a:ln w="19050">
            <a:solidFill>
              <a:srgbClr val="C3E88D"/>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01 · SYNTH</a:t>
            </a:r>
          </a:p>
          <a:p>
            <a:pPr>
              <a:defRPr sz="950">
                <a:solidFill>
                  <a:srgbClr val="5C564B"/>
                </a:solidFill>
                <a:latin typeface="IBM Plex Mono"/>
              </a:defRPr>
            </a:pPr>
            <a:r>
              <a:t>lm.synth</a:t>
            </a:r>
          </a:p>
        </p:txBody>
      </p:sp>
      <p:sp>
        <p:nvSpPr>
          <p:cNvPr id="7" name="Rectangle 6"/>
          <p:cNvSpPr/>
          <p:nvPr/>
        </p:nvSpPr>
        <p:spPr>
          <a:xfrm>
            <a:off x="2926080" y="1645920"/>
            <a:ext cx="1737360" cy="914400"/>
          </a:xfrm>
          <a:prstGeom prst="rect">
            <a:avLst/>
          </a:prstGeom>
          <a:solidFill>
            <a:srgbClr val="181814"/>
          </a:solidFill>
          <a:ln w="19050">
            <a:solidFill>
              <a:srgbClr val="C3E88D"/>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02 · FINETUNE</a:t>
            </a:r>
          </a:p>
          <a:p>
            <a:pPr>
              <a:defRPr sz="950">
                <a:solidFill>
                  <a:srgbClr val="5C564B"/>
                </a:solidFill>
                <a:latin typeface="IBM Plex Mono"/>
              </a:defRPr>
            </a:pPr>
            <a:r>
              <a:t>lm.finetune</a:t>
            </a:r>
          </a:p>
        </p:txBody>
      </p:sp>
      <p:sp>
        <p:nvSpPr>
          <p:cNvPr id="8" name="Rectangle 7"/>
          <p:cNvSpPr/>
          <p:nvPr/>
        </p:nvSpPr>
        <p:spPr>
          <a:xfrm>
            <a:off x="5166360" y="1371600"/>
            <a:ext cx="1737360" cy="640080"/>
          </a:xfrm>
          <a:prstGeom prst="rect">
            <a:avLst/>
          </a:prstGeom>
          <a:solidFill>
            <a:srgbClr val="181814"/>
          </a:solidFill>
          <a:ln w="19050">
            <a:solidFill>
              <a:srgbClr val="9A9485"/>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03 · BENCH IOT</a:t>
            </a:r>
          </a:p>
          <a:p>
            <a:pPr>
              <a:defRPr sz="950">
                <a:solidFill>
                  <a:srgbClr val="5C564B"/>
                </a:solidFill>
                <a:latin typeface="IBM Plex Mono"/>
              </a:defRPr>
            </a:pPr>
            <a:r>
              <a:t>consumer.iot</a:t>
            </a:r>
          </a:p>
        </p:txBody>
      </p:sp>
      <p:sp>
        <p:nvSpPr>
          <p:cNvPr id="9" name="Rectangle 8"/>
          <p:cNvSpPr/>
          <p:nvPr/>
        </p:nvSpPr>
        <p:spPr>
          <a:xfrm>
            <a:off x="5166360" y="2194560"/>
            <a:ext cx="1737360" cy="640080"/>
          </a:xfrm>
          <a:prstGeom prst="rect">
            <a:avLst/>
          </a:prstGeom>
          <a:solidFill>
            <a:srgbClr val="181814"/>
          </a:solidFill>
          <a:ln w="19050">
            <a:solidFill>
              <a:srgbClr val="9A9485"/>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04 · BENCH BFCL</a:t>
            </a:r>
          </a:p>
          <a:p>
            <a:pPr>
              <a:defRPr sz="950">
                <a:solidFill>
                  <a:srgbClr val="5C564B"/>
                </a:solidFill>
                <a:latin typeface="IBM Plex Mono"/>
              </a:defRPr>
            </a:pPr>
            <a:r>
              <a:t>consumer.bfcl</a:t>
            </a:r>
          </a:p>
        </p:txBody>
      </p:sp>
      <p:sp>
        <p:nvSpPr>
          <p:cNvPr id="10" name="Rectangle 9"/>
          <p:cNvSpPr/>
          <p:nvPr/>
        </p:nvSpPr>
        <p:spPr>
          <a:xfrm>
            <a:off x="7406640" y="1645920"/>
            <a:ext cx="1737360" cy="914400"/>
          </a:xfrm>
          <a:prstGeom prst="rect">
            <a:avLst/>
          </a:prstGeom>
          <a:solidFill>
            <a:srgbClr val="181814"/>
          </a:solidFill>
          <a:ln w="19050">
            <a:solidFill>
              <a:srgbClr val="7DD8C6"/>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05 · TRACE</a:t>
            </a:r>
          </a:p>
          <a:p>
            <a:pPr>
              <a:defRPr sz="950">
                <a:solidFill>
                  <a:srgbClr val="5C564B"/>
                </a:solidFill>
                <a:latin typeface="IBM Plex Mono"/>
              </a:defRPr>
            </a:pPr>
            <a:r>
              <a:t>analyzer.trace</a:t>
            </a:r>
          </a:p>
        </p:txBody>
      </p:sp>
      <p:sp>
        <p:nvSpPr>
          <p:cNvPr id="11" name="Rectangle 10"/>
          <p:cNvSpPr/>
          <p:nvPr/>
        </p:nvSpPr>
        <p:spPr>
          <a:xfrm>
            <a:off x="7406640" y="3657600"/>
            <a:ext cx="1737360" cy="914400"/>
          </a:xfrm>
          <a:prstGeom prst="rect">
            <a:avLst/>
          </a:prstGeom>
          <a:solidFill>
            <a:srgbClr val="181814"/>
          </a:solidFill>
          <a:ln w="19050">
            <a:solidFill>
              <a:srgbClr val="7DD8C6"/>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06 · TAXONOMY</a:t>
            </a:r>
          </a:p>
          <a:p>
            <a:pPr>
              <a:defRPr sz="950">
                <a:solidFill>
                  <a:srgbClr val="5C564B"/>
                </a:solidFill>
                <a:latin typeface="IBM Plex Mono"/>
              </a:defRPr>
            </a:pPr>
            <a:r>
              <a:t>analyzer.errors</a:t>
            </a:r>
          </a:p>
        </p:txBody>
      </p:sp>
      <p:sp>
        <p:nvSpPr>
          <p:cNvPr id="12" name="Rectangle 11"/>
          <p:cNvSpPr/>
          <p:nvPr/>
        </p:nvSpPr>
        <p:spPr>
          <a:xfrm>
            <a:off x="5166360" y="3657600"/>
            <a:ext cx="1737360" cy="914400"/>
          </a:xfrm>
          <a:prstGeom prst="rect">
            <a:avLst/>
          </a:prstGeom>
          <a:solidFill>
            <a:srgbClr val="181814"/>
          </a:solidFill>
          <a:ln w="19050">
            <a:solidFill>
              <a:srgbClr val="7DD8C6"/>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07 · METRICS</a:t>
            </a:r>
          </a:p>
          <a:p>
            <a:pPr>
              <a:defRPr sz="950">
                <a:solidFill>
                  <a:srgbClr val="5C564B"/>
                </a:solidFill>
                <a:latin typeface="IBM Plex Mono"/>
              </a:defRPr>
            </a:pPr>
            <a:r>
              <a:t>analyzer.stats</a:t>
            </a:r>
          </a:p>
        </p:txBody>
      </p:sp>
      <p:sp>
        <p:nvSpPr>
          <p:cNvPr id="13" name="Rectangle 12"/>
          <p:cNvSpPr/>
          <p:nvPr/>
        </p:nvSpPr>
        <p:spPr>
          <a:xfrm>
            <a:off x="2926080" y="3657600"/>
            <a:ext cx="1737360" cy="914400"/>
          </a:xfrm>
          <a:prstGeom prst="rect">
            <a:avLst/>
          </a:prstGeom>
          <a:solidFill>
            <a:srgbClr val="181814"/>
          </a:solidFill>
          <a:ln w="19050">
            <a:solidFill>
              <a:srgbClr val="F4B86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08 · RULES</a:t>
            </a:r>
          </a:p>
          <a:p>
            <a:pPr>
              <a:defRPr sz="950">
                <a:solidFill>
                  <a:srgbClr val="5C564B"/>
                </a:solidFill>
                <a:latin typeface="IBM Plex Mono"/>
              </a:defRPr>
            </a:pPr>
            <a:r>
              <a:t>feedback.patch</a:t>
            </a:r>
          </a:p>
        </p:txBody>
      </p:sp>
      <p:sp>
        <p:nvSpPr>
          <p:cNvPr id="14" name="Rectangle 13"/>
          <p:cNvSpPr/>
          <p:nvPr/>
        </p:nvSpPr>
        <p:spPr>
          <a:xfrm>
            <a:off x="685800" y="3657600"/>
            <a:ext cx="1737360" cy="914400"/>
          </a:xfrm>
          <a:prstGeom prst="rect">
            <a:avLst/>
          </a:prstGeom>
          <a:solidFill>
            <a:srgbClr val="181814"/>
          </a:solidFill>
          <a:ln w="19050">
            <a:solidFill>
              <a:srgbClr val="C3E88D"/>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00" b="1">
                <a:solidFill>
                  <a:srgbClr val="FFFCF0"/>
                </a:solidFill>
                <a:latin typeface="IBM Plex Mono"/>
              </a:defRPr>
            </a:pPr>
            <a:r>
              <a:t>09 · PATCH</a:t>
            </a:r>
          </a:p>
          <a:p>
            <a:pPr>
              <a:defRPr sz="950">
                <a:solidFill>
                  <a:srgbClr val="5C564B"/>
                </a:solidFill>
                <a:latin typeface="IBM Plex Mono"/>
              </a:defRPr>
            </a:pPr>
            <a:r>
              <a:t>contract.update</a:t>
            </a:r>
          </a:p>
        </p:txBody>
      </p:sp>
      <p:cxnSp>
        <p:nvCxnSpPr>
          <p:cNvPr id="15" name="Connector 14"/>
          <p:cNvCxnSpPr/>
          <p:nvPr/>
        </p:nvCxnSpPr>
        <p:spPr>
          <a:xfrm>
            <a:off x="2423160" y="2103120"/>
            <a:ext cx="502920" cy="0"/>
          </a:xfrm>
          <a:prstGeom prst="line">
            <a:avLst/>
          </a:prstGeom>
          <a:ln w="19050">
            <a:solidFill>
              <a:srgbClr val="C3E88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663440" y="1691640"/>
            <a:ext cx="502920" cy="411480"/>
          </a:xfrm>
          <a:prstGeom prst="line">
            <a:avLst/>
          </a:prstGeom>
          <a:ln w="19050">
            <a:solidFill>
              <a:srgbClr val="C3E88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63440" y="2103120"/>
            <a:ext cx="502920" cy="411480"/>
          </a:xfrm>
          <a:prstGeom prst="line">
            <a:avLst/>
          </a:prstGeom>
          <a:ln w="19050">
            <a:solidFill>
              <a:srgbClr val="C3E88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903720" y="1691640"/>
            <a:ext cx="502920" cy="411480"/>
          </a:xfrm>
          <a:prstGeom prst="line">
            <a:avLst/>
          </a:prstGeom>
          <a:ln w="19050">
            <a:solidFill>
              <a:srgbClr val="7DD8C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903720" y="2103120"/>
            <a:ext cx="502920" cy="411480"/>
          </a:xfrm>
          <a:prstGeom prst="line">
            <a:avLst/>
          </a:prstGeom>
          <a:ln w="19050">
            <a:solidFill>
              <a:srgbClr val="7DD8C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275320" y="2560320"/>
            <a:ext cx="0" cy="1097280"/>
          </a:xfrm>
          <a:prstGeom prst="line">
            <a:avLst/>
          </a:prstGeom>
          <a:ln w="19050">
            <a:solidFill>
              <a:srgbClr val="7DD8C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6903720" y="4114800"/>
            <a:ext cx="502920" cy="0"/>
          </a:xfrm>
          <a:prstGeom prst="line">
            <a:avLst/>
          </a:prstGeom>
          <a:ln w="19050">
            <a:solidFill>
              <a:srgbClr val="7DD8C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663440" y="4114800"/>
            <a:ext cx="502920" cy="0"/>
          </a:xfrm>
          <a:prstGeom prst="line">
            <a:avLst/>
          </a:prstGeom>
          <a:ln w="19050">
            <a:solidFill>
              <a:srgbClr val="7DD8C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423160" y="4114800"/>
            <a:ext cx="502920" cy="0"/>
          </a:xfrm>
          <a:prstGeom prst="line">
            <a:avLst/>
          </a:prstGeom>
          <a:ln w="1905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554480" y="2560320"/>
            <a:ext cx="0" cy="1097280"/>
          </a:xfrm>
          <a:prstGeom prst="line">
            <a:avLst/>
          </a:prstGeom>
          <a:ln w="19050">
            <a:solidFill>
              <a:srgbClr val="C3E88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4846320"/>
            <a:ext cx="10817352" cy="1097280"/>
          </a:xfrm>
          <a:prstGeom prst="rect">
            <a:avLst/>
          </a:prstGeom>
          <a:noFill/>
        </p:spPr>
        <p:txBody>
          <a:bodyPr wrap="square" lIns="0" rIns="0" tIns="0" bIns="0">
            <a:spAutoFit/>
          </a:bodyPr>
          <a:lstStyle/>
          <a:p>
            <a:pPr>
              <a:spcAft>
                <a:spcPts val="600"/>
              </a:spcAft>
            </a:pPr>
            <a:r>
              <a:rPr b="1" sz="1300">
                <a:solidFill>
                  <a:srgbClr val="7DD8C6"/>
                </a:solidFill>
                <a:latin typeface="IBM Plex Mono"/>
              </a:rPr>
              <a:t>· Forward Pass: </a:t>
            </a:r>
            <a:r>
              <a:rPr sz="1300">
                <a:solidFill>
                  <a:srgbClr val="E8E4D4"/>
                </a:solidFill>
                <a:latin typeface="Arial"/>
              </a:rPr>
              <a:t>도구 스펙 Catalog 분석 → 데이터 합성(01) → 소형 모델 파인튜닝(02) → 다양한 벤치마크 평가(03,04) → Trace 수집(05) 단계로 순차 실행.</a:t>
            </a:r>
          </a:p>
          <a:p>
            <a:r>
              <a:rPr b="1" sz="1300">
                <a:solidFill>
                  <a:srgbClr val="F4B860"/>
                </a:solidFill>
                <a:latin typeface="IBM Plex Mono"/>
              </a:rPr>
              <a:t>· Feedback Loop: </a:t>
            </a:r>
            <a:r>
              <a:rPr sz="1300">
                <a:solidFill>
                  <a:srgbClr val="E8E4D4"/>
                </a:solidFill>
                <a:latin typeface="Arial"/>
              </a:rPr>
              <a:t>에러 로그 분류(06) → 성능 통계 분석(07) → Myelin Compiler 컴파일 패스 규칙 도출(08) → 툴 계약 패치(09)의 순환 복구 구조를 가짐.</a:t>
            </a:r>
          </a:p>
        </p:txBody>
      </p:sp>
      <p:cxnSp>
        <p:nvCxnSpPr>
          <p:cNvPr id="26" name="Connector 25"/>
          <p:cNvCxnSpPr/>
          <p:nvPr/>
        </p:nvCxnSpPr>
        <p:spPr>
          <a:xfrm>
            <a:off x="685800" y="612648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6263640"/>
            <a:ext cx="5486400" cy="365760"/>
          </a:xfrm>
          <a:prstGeom prst="rect">
            <a:avLst/>
          </a:prstGeom>
          <a:noFill/>
        </p:spPr>
        <p:txBody>
          <a:bodyPr wrap="square" lIns="0" rIns="0" tIns="0" bIns="0">
            <a:spAutoFit/>
          </a:bodyPr>
          <a:lstStyle/>
          <a:p>
            <a:pPr>
              <a:defRPr sz="1000">
                <a:solidFill>
                  <a:srgbClr val="5C564B"/>
                </a:solidFill>
                <a:latin typeface="IBM Plex Mono"/>
              </a:defRPr>
            </a:pPr>
            <a:r>
              <a:t>GANGLION // SYSTEMS CO-DESIGN</a:t>
            </a:r>
          </a:p>
        </p:txBody>
      </p:sp>
      <p:sp>
        <p:nvSpPr>
          <p:cNvPr id="28" name="TextBox 27"/>
          <p:cNvSpPr txBox="1"/>
          <p:nvPr/>
        </p:nvSpPr>
        <p:spPr>
          <a:xfrm>
            <a:off x="8686800" y="6263640"/>
            <a:ext cx="2816352" cy="365760"/>
          </a:xfrm>
          <a:prstGeom prst="rect">
            <a:avLst/>
          </a:prstGeom>
          <a:noFill/>
        </p:spPr>
        <p:txBody>
          <a:bodyPr wrap="square" lIns="0" rIns="0" tIns="0" bIns="0">
            <a:spAutoFit/>
          </a:bodyPr>
          <a:lstStyle/>
          <a:p>
            <a:pPr algn="r">
              <a:defRPr sz="1000">
                <a:solidFill>
                  <a:srgbClr val="5C564B"/>
                </a:solidFill>
                <a:latin typeface="IBM Plex Mono"/>
              </a:defRPr>
            </a:pPr>
            <a:r>
              <a:t>MAY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TextBox 1"/>
          <p:cNvSpPr txBox="1"/>
          <p:nvPr/>
        </p:nvSpPr>
        <p:spPr>
          <a:xfrm>
            <a:off x="685800" y="228600"/>
            <a:ext cx="7315200" cy="320040"/>
          </a:xfrm>
          <a:prstGeom prst="rect">
            <a:avLst/>
          </a:prstGeom>
          <a:noFill/>
        </p:spPr>
        <p:txBody>
          <a:bodyPr wrap="square" lIns="0" rIns="0" tIns="0" bIns="0">
            <a:spAutoFit/>
          </a:bodyPr>
          <a:lstStyle/>
          <a:p>
            <a:pPr>
              <a:defRPr sz="1000" b="1">
                <a:solidFill>
                  <a:srgbClr val="7DD8C6"/>
                </a:solidFill>
                <a:latin typeface="IBM Plex Mono"/>
              </a:defRPr>
            </a:pPr>
            <a:r>
              <a:t>LEARNING PHASE</a:t>
            </a:r>
          </a:p>
        </p:txBody>
      </p:sp>
      <p:sp>
        <p:nvSpPr>
          <p:cNvPr id="3" name="TextBox 2"/>
          <p:cNvSpPr txBox="1"/>
          <p:nvPr/>
        </p:nvSpPr>
        <p:spPr>
          <a:xfrm>
            <a:off x="685800" y="502920"/>
            <a:ext cx="8229600" cy="640080"/>
          </a:xfrm>
          <a:prstGeom prst="rect">
            <a:avLst/>
          </a:prstGeom>
          <a:noFill/>
        </p:spPr>
        <p:txBody>
          <a:bodyPr wrap="square" lIns="0" rIns="0" tIns="0" bIns="0">
            <a:spAutoFit/>
          </a:bodyPr>
          <a:lstStyle/>
          <a:p>
            <a:pPr>
              <a:defRPr sz="2400" b="1">
                <a:solidFill>
                  <a:srgbClr val="FFFCF0"/>
                </a:solidFill>
                <a:latin typeface="IBM Plex Mono"/>
              </a:defRPr>
            </a:pPr>
            <a:r>
              <a:t>Module 1. Learning Phase (Reflex-LM 학습)</a:t>
            </a:r>
          </a:p>
        </p:txBody>
      </p:sp>
      <p:sp>
        <p:nvSpPr>
          <p:cNvPr id="4" name="TextBox 3"/>
          <p:cNvSpPr txBox="1"/>
          <p:nvPr/>
        </p:nvSpPr>
        <p:spPr>
          <a:xfrm>
            <a:off x="9601200" y="502920"/>
            <a:ext cx="1828800" cy="640080"/>
          </a:xfrm>
          <a:prstGeom prst="rect">
            <a:avLst/>
          </a:prstGeom>
          <a:noFill/>
        </p:spPr>
        <p:txBody>
          <a:bodyPr wrap="square" lIns="0" rIns="0" tIns="0" bIns="0">
            <a:spAutoFit/>
          </a:bodyPr>
          <a:lstStyle/>
          <a:p>
            <a:pPr algn="r">
              <a:defRPr sz="1100">
                <a:solidFill>
                  <a:srgbClr val="5C564B"/>
                </a:solidFill>
                <a:latin typeface="IBM Plex Mono"/>
              </a:defRPr>
            </a:pPr>
            <a:r>
              <a:t>[ 04 / 08 ]</a:t>
            </a:r>
          </a:p>
        </p:txBody>
      </p:sp>
      <p:cxnSp>
        <p:nvCxnSpPr>
          <p:cNvPr id="5" name="Connector 4"/>
          <p:cNvCxnSpPr/>
          <p:nvPr/>
        </p:nvCxnSpPr>
        <p:spPr>
          <a:xfrm>
            <a:off x="685800" y="118872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85800" y="1463040"/>
            <a:ext cx="73152" cy="1188720"/>
          </a:xfrm>
          <a:prstGeom prst="rect">
            <a:avLst/>
          </a:prstGeom>
          <a:solidFill>
            <a:srgbClr val="C3E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10588752" cy="1188720"/>
          </a:xfrm>
          <a:prstGeom prst="rect">
            <a:avLst/>
          </a:prstGeom>
          <a:noFill/>
        </p:spPr>
        <p:txBody>
          <a:bodyPr wrap="square" lIns="0" rIns="0" tIns="0" bIns="0">
            <a:spAutoFit/>
          </a:bodyPr>
          <a:lstStyle/>
          <a:p>
            <a:pPr>
              <a:spcAft>
                <a:spcPts val="600"/>
              </a:spcAft>
              <a:defRPr sz="1700" b="1">
                <a:solidFill>
                  <a:srgbClr val="FFFCF0"/>
                </a:solidFill>
                <a:latin typeface="IBM Plex Mono"/>
              </a:defRPr>
            </a:pPr>
            <a:r>
              <a:t>Spec-Driven Data Synthesis (명세 기반 데이터 합성)</a:t>
            </a:r>
          </a:p>
          <a:p>
            <a:pPr>
              <a:defRPr sz="1300">
                <a:solidFill>
                  <a:srgbClr val="9A9485"/>
                </a:solidFill>
                <a:latin typeface="Arial"/>
              </a:defRPr>
            </a:pPr>
            <a:r>
              <a:t>입력된 툴 명세(ToolSpec)를 파싱하여, SFT/DPO 학습에 필요한 다양한 가상 에이전트 질문 시나리오와 이에 매칭되는 정답 Action IR 문자열 골드 쌍을 템플릿 엔진을 통해 자동 생성.</a:t>
            </a:r>
          </a:p>
        </p:txBody>
      </p:sp>
      <p:sp>
        <p:nvSpPr>
          <p:cNvPr id="8" name="Rectangle 7"/>
          <p:cNvSpPr/>
          <p:nvPr/>
        </p:nvSpPr>
        <p:spPr>
          <a:xfrm>
            <a:off x="685800" y="2926080"/>
            <a:ext cx="73152" cy="1188720"/>
          </a:xfrm>
          <a:prstGeom prst="rect">
            <a:avLst/>
          </a:prstGeom>
          <a:solidFill>
            <a:srgbClr val="C3E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10588752" cy="1188720"/>
          </a:xfrm>
          <a:prstGeom prst="rect">
            <a:avLst/>
          </a:prstGeom>
          <a:noFill/>
        </p:spPr>
        <p:txBody>
          <a:bodyPr wrap="square" lIns="0" rIns="0" tIns="0" bIns="0">
            <a:spAutoFit/>
          </a:bodyPr>
          <a:lstStyle/>
          <a:p>
            <a:pPr>
              <a:spcAft>
                <a:spcPts val="600"/>
              </a:spcAft>
              <a:defRPr sz="1700" b="1">
                <a:solidFill>
                  <a:srgbClr val="FFFCF0"/>
                </a:solidFill>
                <a:latin typeface="IBM Plex Mono"/>
              </a:defRPr>
            </a:pPr>
            <a:r>
              <a:t>Supervised Fine-Tuning (SFT)</a:t>
            </a:r>
          </a:p>
          <a:p>
            <a:pPr>
              <a:defRPr sz="1300">
                <a:solidFill>
                  <a:srgbClr val="9A9485"/>
                </a:solidFill>
                <a:latin typeface="Arial"/>
              </a:defRPr>
            </a:pPr>
            <a:r>
              <a:t>경량 모델(Qwen3-0.6B)의 표현 한계를 개선하기 위해 Action IR 포맷 학습에 최적화된 SFT 실행. 툴당 최소 80~100여 건 수준의 미세 튜닝만으로도 에지 환경에서의 포맷 붕괴 극복.</a:t>
            </a:r>
          </a:p>
        </p:txBody>
      </p:sp>
      <p:sp>
        <p:nvSpPr>
          <p:cNvPr id="10" name="Rectangle 9"/>
          <p:cNvSpPr/>
          <p:nvPr/>
        </p:nvSpPr>
        <p:spPr>
          <a:xfrm>
            <a:off x="685800" y="4389120"/>
            <a:ext cx="73152" cy="1188720"/>
          </a:xfrm>
          <a:prstGeom prst="rect">
            <a:avLst/>
          </a:prstGeom>
          <a:solidFill>
            <a:srgbClr val="C3E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89120"/>
            <a:ext cx="10588752" cy="1188720"/>
          </a:xfrm>
          <a:prstGeom prst="rect">
            <a:avLst/>
          </a:prstGeom>
          <a:noFill/>
        </p:spPr>
        <p:txBody>
          <a:bodyPr wrap="square" lIns="0" rIns="0" tIns="0" bIns="0">
            <a:spAutoFit/>
          </a:bodyPr>
          <a:lstStyle/>
          <a:p>
            <a:pPr>
              <a:spcAft>
                <a:spcPts val="600"/>
              </a:spcAft>
              <a:defRPr sz="1700" b="1">
                <a:solidFill>
                  <a:srgbClr val="FFFCF0"/>
                </a:solidFill>
                <a:latin typeface="IBM Plex Mono"/>
              </a:defRPr>
            </a:pPr>
            <a:r>
              <a:t>Direct Preference Optimization (DPO)</a:t>
            </a:r>
          </a:p>
          <a:p>
            <a:pPr>
              <a:defRPr sz="1300">
                <a:solidFill>
                  <a:srgbClr val="9A9485"/>
                </a:solidFill>
                <a:latin typeface="Arial"/>
              </a:defRPr>
            </a:pPr>
            <a:r>
              <a:t>단순 문법 학습을 넘어, 여러 복수 도구 간의 모호한 문맥이나 잘못된 선택을 제어하고 권한 외 입력을 안전하게 필터링(No-Call Contract)하기 위해 Preference Alignment 학습 연동 지원.</a:t>
            </a:r>
          </a:p>
        </p:txBody>
      </p:sp>
      <p:cxnSp>
        <p:nvCxnSpPr>
          <p:cNvPr id="12" name="Connector 11"/>
          <p:cNvCxnSpPr/>
          <p:nvPr/>
        </p:nvCxnSpPr>
        <p:spPr>
          <a:xfrm>
            <a:off x="685800" y="612648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6263640"/>
            <a:ext cx="5486400" cy="365760"/>
          </a:xfrm>
          <a:prstGeom prst="rect">
            <a:avLst/>
          </a:prstGeom>
          <a:noFill/>
        </p:spPr>
        <p:txBody>
          <a:bodyPr wrap="square" lIns="0" rIns="0" tIns="0" bIns="0">
            <a:spAutoFit/>
          </a:bodyPr>
          <a:lstStyle/>
          <a:p>
            <a:pPr>
              <a:defRPr sz="1000">
                <a:solidFill>
                  <a:srgbClr val="5C564B"/>
                </a:solidFill>
                <a:latin typeface="IBM Plex Mono"/>
              </a:defRPr>
            </a:pPr>
            <a:r>
              <a:t>GANGLION // SYSTEMS CO-DESIGN</a:t>
            </a:r>
          </a:p>
        </p:txBody>
      </p:sp>
      <p:sp>
        <p:nvSpPr>
          <p:cNvPr id="14" name="TextBox 13"/>
          <p:cNvSpPr txBox="1"/>
          <p:nvPr/>
        </p:nvSpPr>
        <p:spPr>
          <a:xfrm>
            <a:off x="8686800" y="6263640"/>
            <a:ext cx="2816352" cy="365760"/>
          </a:xfrm>
          <a:prstGeom prst="rect">
            <a:avLst/>
          </a:prstGeom>
          <a:noFill/>
        </p:spPr>
        <p:txBody>
          <a:bodyPr wrap="square" lIns="0" rIns="0" tIns="0" bIns="0">
            <a:spAutoFit/>
          </a:bodyPr>
          <a:lstStyle/>
          <a:p>
            <a:pPr algn="r">
              <a:defRPr sz="1000">
                <a:solidFill>
                  <a:srgbClr val="5C564B"/>
                </a:solidFill>
                <a:latin typeface="IBM Plex Mono"/>
              </a:defRPr>
            </a:pPr>
            <a:r>
              <a:t>MAY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TextBox 1"/>
          <p:cNvSpPr txBox="1"/>
          <p:nvPr/>
        </p:nvSpPr>
        <p:spPr>
          <a:xfrm>
            <a:off x="685800" y="228600"/>
            <a:ext cx="7315200" cy="320040"/>
          </a:xfrm>
          <a:prstGeom prst="rect">
            <a:avLst/>
          </a:prstGeom>
          <a:noFill/>
        </p:spPr>
        <p:txBody>
          <a:bodyPr wrap="square" lIns="0" rIns="0" tIns="0" bIns="0">
            <a:spAutoFit/>
          </a:bodyPr>
          <a:lstStyle/>
          <a:p>
            <a:pPr>
              <a:defRPr sz="1000" b="1">
                <a:solidFill>
                  <a:srgbClr val="7DD8C6"/>
                </a:solidFill>
                <a:latin typeface="IBM Plex Mono"/>
              </a:defRPr>
            </a:pPr>
            <a:r>
              <a:t>COMPILER PASSES</a:t>
            </a:r>
          </a:p>
        </p:txBody>
      </p:sp>
      <p:sp>
        <p:nvSpPr>
          <p:cNvPr id="3" name="TextBox 2"/>
          <p:cNvSpPr txBox="1"/>
          <p:nvPr/>
        </p:nvSpPr>
        <p:spPr>
          <a:xfrm>
            <a:off x="685800" y="502920"/>
            <a:ext cx="8229600" cy="640080"/>
          </a:xfrm>
          <a:prstGeom prst="rect">
            <a:avLst/>
          </a:prstGeom>
          <a:noFill/>
        </p:spPr>
        <p:txBody>
          <a:bodyPr wrap="square" lIns="0" rIns="0" tIns="0" bIns="0">
            <a:spAutoFit/>
          </a:bodyPr>
          <a:lstStyle/>
          <a:p>
            <a:pPr>
              <a:defRPr sz="2400" b="1">
                <a:solidFill>
                  <a:srgbClr val="FFFCF0"/>
                </a:solidFill>
                <a:latin typeface="IBM Plex Mono"/>
              </a:defRPr>
            </a:pPr>
            <a:r>
              <a:t>Module 2. Compiler Passes (Myelin Compiler)</a:t>
            </a:r>
          </a:p>
        </p:txBody>
      </p:sp>
      <p:sp>
        <p:nvSpPr>
          <p:cNvPr id="4" name="TextBox 3"/>
          <p:cNvSpPr txBox="1"/>
          <p:nvPr/>
        </p:nvSpPr>
        <p:spPr>
          <a:xfrm>
            <a:off x="9601200" y="502920"/>
            <a:ext cx="1828800" cy="640080"/>
          </a:xfrm>
          <a:prstGeom prst="rect">
            <a:avLst/>
          </a:prstGeom>
          <a:noFill/>
        </p:spPr>
        <p:txBody>
          <a:bodyPr wrap="square" lIns="0" rIns="0" tIns="0" bIns="0">
            <a:spAutoFit/>
          </a:bodyPr>
          <a:lstStyle/>
          <a:p>
            <a:pPr algn="r">
              <a:defRPr sz="1100">
                <a:solidFill>
                  <a:srgbClr val="5C564B"/>
                </a:solidFill>
                <a:latin typeface="IBM Plex Mono"/>
              </a:defRPr>
            </a:pPr>
            <a:r>
              <a:t>[ 05 / 08 ]</a:t>
            </a:r>
          </a:p>
        </p:txBody>
      </p:sp>
      <p:cxnSp>
        <p:nvCxnSpPr>
          <p:cNvPr id="5" name="Connector 4"/>
          <p:cNvCxnSpPr/>
          <p:nvPr/>
        </p:nvCxnSpPr>
        <p:spPr>
          <a:xfrm>
            <a:off x="685800" y="118872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85800" y="1463040"/>
            <a:ext cx="5303520" cy="4297680"/>
          </a:xfrm>
          <a:prstGeom prst="rect">
            <a:avLst/>
          </a:prstGeom>
          <a:solidFill>
            <a:srgbClr val="181814"/>
          </a:solidFill>
          <a:ln w="19050">
            <a:solidFill>
              <a:srgbClr val="3D3D3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2000"/>
              </a:spcAft>
              <a:defRPr sz="1800" b="1">
                <a:solidFill>
                  <a:srgbClr val="7DD8C6"/>
                </a:solidFill>
                <a:latin typeface="IBM Plex Mono"/>
              </a:defRPr>
            </a:pPr>
            <a:r>
              <a:t>1. Constrained Decoding (Grammar)</a:t>
            </a:r>
          </a:p>
          <a:p>
            <a:pPr>
              <a:spcAft>
                <a:spcPts val="400"/>
              </a:spcAft>
              <a:defRPr sz="1450" b="1">
                <a:solidFill>
                  <a:srgbClr val="FFFCF0"/>
                </a:solidFill>
                <a:latin typeface="IBM Plex Mono"/>
              </a:defRPr>
            </a:pPr>
            <a:r>
              <a:t>· EBNF 구문 제약 Masking</a:t>
            </a:r>
          </a:p>
          <a:p>
            <a:pPr>
              <a:spcAft>
                <a:spcPts val="1800"/>
              </a:spcAft>
              <a:defRPr sz="1300">
                <a:solidFill>
                  <a:srgbClr val="9A9485"/>
                </a:solidFill>
                <a:latin typeface="Arial"/>
              </a:defRPr>
            </a:pPr>
            <a:r>
              <a:t>Catalog 구조 정의 및 툴 규칙에 맞춰 BNF/EBNF 제약 엔진을 동적으로 빌드하고 엔진 레벨(xgrammar)에 바인딩합니다.</a:t>
            </a:r>
          </a:p>
          <a:p>
            <a:pPr>
              <a:spcAft>
                <a:spcPts val="400"/>
              </a:spcAft>
              <a:defRPr sz="1450" b="1">
                <a:solidFill>
                  <a:srgbClr val="FFFCF0"/>
                </a:solidFill>
                <a:latin typeface="IBM Plex Mono"/>
              </a:defRPr>
            </a:pPr>
            <a:r>
              <a:t>· 출력 안정성 100% 보장</a:t>
            </a:r>
          </a:p>
          <a:p>
            <a:pPr>
              <a:defRPr sz="1300">
                <a:solidFill>
                  <a:srgbClr val="9A9485"/>
                </a:solidFill>
                <a:latin typeface="Arial"/>
              </a:defRPr>
            </a:pPr>
            <a:r>
              <a:t>모델 추론 시점에 문법 규칙에 벗어나는 부적절한 JSON/DSL 토큰 후보를 마스킹 차단하여 포맷 에러를 차단합니다.</a:t>
            </a:r>
          </a:p>
        </p:txBody>
      </p:sp>
      <p:sp>
        <p:nvSpPr>
          <p:cNvPr id="7" name="Rectangle 6"/>
          <p:cNvSpPr/>
          <p:nvPr/>
        </p:nvSpPr>
        <p:spPr>
          <a:xfrm>
            <a:off x="6199632" y="1463040"/>
            <a:ext cx="5303520" cy="4297680"/>
          </a:xfrm>
          <a:prstGeom prst="rect">
            <a:avLst/>
          </a:prstGeom>
          <a:solidFill>
            <a:srgbClr val="181814"/>
          </a:solidFill>
          <a:ln w="19050">
            <a:solidFill>
              <a:srgbClr val="3D3D3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2000"/>
              </a:spcAft>
              <a:defRPr sz="1800" b="1">
                <a:solidFill>
                  <a:srgbClr val="F4B860"/>
                </a:solidFill>
                <a:latin typeface="IBM Plex Mono"/>
              </a:defRPr>
            </a:pPr>
            <a:r>
              <a:t>2. Dynamic Post-Correction</a:t>
            </a:r>
          </a:p>
          <a:p>
            <a:pPr>
              <a:spcAft>
                <a:spcPts val="400"/>
              </a:spcAft>
              <a:defRPr sz="1450" b="1">
                <a:solidFill>
                  <a:srgbClr val="FFFCF0"/>
                </a:solidFill>
                <a:latin typeface="IBM Plex Mono"/>
              </a:defRPr>
            </a:pPr>
            <a:r>
              <a:t>· Default Value Injection</a:t>
            </a:r>
          </a:p>
          <a:p>
            <a:pPr>
              <a:spcAft>
                <a:spcPts val="1800"/>
              </a:spcAft>
              <a:defRPr sz="1300">
                <a:solidFill>
                  <a:srgbClr val="9A9485"/>
                </a:solidFill>
                <a:latin typeface="Arial"/>
              </a:defRPr>
            </a:pPr>
            <a:r>
              <a:t>언어 모델이 간혹 생략하는 필수 아규먼트(Arguments)를 파서 단에서 Catalog 기본 규격에 맞춰 동적 복구 보완합니다.</a:t>
            </a:r>
          </a:p>
          <a:p>
            <a:pPr>
              <a:spcAft>
                <a:spcPts val="400"/>
              </a:spcAft>
              <a:defRPr sz="1450" b="1">
                <a:solidFill>
                  <a:srgbClr val="FFFCF0"/>
                </a:solidFill>
                <a:latin typeface="IBM Plex Mono"/>
              </a:defRPr>
            </a:pPr>
            <a:r>
              <a:t>· 샌드박스 Repair Loop</a:t>
            </a:r>
          </a:p>
          <a:p>
            <a:pPr>
              <a:defRPr sz="1300">
                <a:solidFill>
                  <a:srgbClr val="9A9485"/>
                </a:solidFill>
                <a:latin typeface="Arial"/>
              </a:defRPr>
            </a:pPr>
            <a:r>
              <a:t>런타임 에러나 논리 위반 발생 시 에러 피드백을 프롬프트 형태로 샌드박스 루프 내에 재피딩하여 가혹 조건에서도 자가 복구 완료합니다.</a:t>
            </a:r>
          </a:p>
        </p:txBody>
      </p:sp>
      <p:cxnSp>
        <p:nvCxnSpPr>
          <p:cNvPr id="8" name="Connector 7"/>
          <p:cNvCxnSpPr/>
          <p:nvPr/>
        </p:nvCxnSpPr>
        <p:spPr>
          <a:xfrm>
            <a:off x="685800" y="612648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6263640"/>
            <a:ext cx="5486400" cy="365760"/>
          </a:xfrm>
          <a:prstGeom prst="rect">
            <a:avLst/>
          </a:prstGeom>
          <a:noFill/>
        </p:spPr>
        <p:txBody>
          <a:bodyPr wrap="square" lIns="0" rIns="0" tIns="0" bIns="0">
            <a:spAutoFit/>
          </a:bodyPr>
          <a:lstStyle/>
          <a:p>
            <a:pPr>
              <a:defRPr sz="1000">
                <a:solidFill>
                  <a:srgbClr val="5C564B"/>
                </a:solidFill>
                <a:latin typeface="IBM Plex Mono"/>
              </a:defRPr>
            </a:pPr>
            <a:r>
              <a:t>GANGLION // SYSTEMS CO-DESIGN</a:t>
            </a:r>
          </a:p>
        </p:txBody>
      </p:sp>
      <p:sp>
        <p:nvSpPr>
          <p:cNvPr id="10" name="TextBox 9"/>
          <p:cNvSpPr txBox="1"/>
          <p:nvPr/>
        </p:nvSpPr>
        <p:spPr>
          <a:xfrm>
            <a:off x="8686800" y="6263640"/>
            <a:ext cx="2816352" cy="365760"/>
          </a:xfrm>
          <a:prstGeom prst="rect">
            <a:avLst/>
          </a:prstGeom>
          <a:noFill/>
        </p:spPr>
        <p:txBody>
          <a:bodyPr wrap="square" lIns="0" rIns="0" tIns="0" bIns="0">
            <a:spAutoFit/>
          </a:bodyPr>
          <a:lstStyle/>
          <a:p>
            <a:pPr algn="r">
              <a:defRPr sz="1000">
                <a:solidFill>
                  <a:srgbClr val="5C564B"/>
                </a:solidFill>
                <a:latin typeface="IBM Plex Mono"/>
              </a:defRPr>
            </a:pPr>
            <a:r>
              <a:t>MAY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TextBox 1"/>
          <p:cNvSpPr txBox="1"/>
          <p:nvPr/>
        </p:nvSpPr>
        <p:spPr>
          <a:xfrm>
            <a:off x="685800" y="228600"/>
            <a:ext cx="7315200" cy="320040"/>
          </a:xfrm>
          <a:prstGeom prst="rect">
            <a:avLst/>
          </a:prstGeom>
          <a:noFill/>
        </p:spPr>
        <p:txBody>
          <a:bodyPr wrap="square" lIns="0" rIns="0" tIns="0" bIns="0">
            <a:spAutoFit/>
          </a:bodyPr>
          <a:lstStyle/>
          <a:p>
            <a:pPr>
              <a:defRPr sz="1000" b="1">
                <a:solidFill>
                  <a:srgbClr val="7DD8C6"/>
                </a:solidFill>
                <a:latin typeface="IBM Plex Mono"/>
              </a:defRPr>
            </a:pPr>
            <a:r>
              <a:t>SELF-BOOTSTRAPPING</a:t>
            </a:r>
          </a:p>
        </p:txBody>
      </p:sp>
      <p:sp>
        <p:nvSpPr>
          <p:cNvPr id="3" name="TextBox 2"/>
          <p:cNvSpPr txBox="1"/>
          <p:nvPr/>
        </p:nvSpPr>
        <p:spPr>
          <a:xfrm>
            <a:off x="685800" y="502920"/>
            <a:ext cx="8229600" cy="640080"/>
          </a:xfrm>
          <a:prstGeom prst="rect">
            <a:avLst/>
          </a:prstGeom>
          <a:noFill/>
        </p:spPr>
        <p:txBody>
          <a:bodyPr wrap="square" lIns="0" rIns="0" tIns="0" bIns="0">
            <a:spAutoFit/>
          </a:bodyPr>
          <a:lstStyle/>
          <a:p>
            <a:pPr>
              <a:defRPr sz="2400" b="1">
                <a:solidFill>
                  <a:srgbClr val="FFFCF0"/>
                </a:solidFill>
                <a:latin typeface="IBM Plex Mono"/>
              </a:defRPr>
            </a:pPr>
            <a:r>
              <a:t>Module 3. Self-Bootstrapping Data Loop</a:t>
            </a:r>
          </a:p>
        </p:txBody>
      </p:sp>
      <p:sp>
        <p:nvSpPr>
          <p:cNvPr id="4" name="TextBox 3"/>
          <p:cNvSpPr txBox="1"/>
          <p:nvPr/>
        </p:nvSpPr>
        <p:spPr>
          <a:xfrm>
            <a:off x="9601200" y="502920"/>
            <a:ext cx="1828800" cy="640080"/>
          </a:xfrm>
          <a:prstGeom prst="rect">
            <a:avLst/>
          </a:prstGeom>
          <a:noFill/>
        </p:spPr>
        <p:txBody>
          <a:bodyPr wrap="square" lIns="0" rIns="0" tIns="0" bIns="0">
            <a:spAutoFit/>
          </a:bodyPr>
          <a:lstStyle/>
          <a:p>
            <a:pPr algn="r">
              <a:defRPr sz="1100">
                <a:solidFill>
                  <a:srgbClr val="5C564B"/>
                </a:solidFill>
                <a:latin typeface="IBM Plex Mono"/>
              </a:defRPr>
            </a:pPr>
            <a:r>
              <a:t>[ 06 / 08 ]</a:t>
            </a:r>
          </a:p>
        </p:txBody>
      </p:sp>
      <p:cxnSp>
        <p:nvCxnSpPr>
          <p:cNvPr id="5" name="Connector 4"/>
          <p:cNvCxnSpPr/>
          <p:nvPr/>
        </p:nvCxnSpPr>
        <p:spPr>
          <a:xfrm>
            <a:off x="685800" y="118872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1463040"/>
            <a:ext cx="5303520" cy="4297680"/>
          </a:xfrm>
          <a:prstGeom prst="rect">
            <a:avLst/>
          </a:prstGeom>
          <a:noFill/>
        </p:spPr>
        <p:txBody>
          <a:bodyPr wrap="square" lIns="0" rIns="0" tIns="0" bIns="0">
            <a:spAutoFit/>
          </a:bodyPr>
          <a:lstStyle/>
          <a:p>
            <a:pPr>
              <a:spcAft>
                <a:spcPts val="600"/>
              </a:spcAft>
              <a:defRPr sz="1700" b="1">
                <a:solidFill>
                  <a:srgbClr val="FFFCF0"/>
                </a:solidFill>
                <a:latin typeface="IBM Plex Mono"/>
              </a:defRPr>
            </a:pPr>
            <a:r>
              <a:t>통일된 Telemetry (Trace) 수집</a:t>
            </a:r>
          </a:p>
          <a:p>
            <a:pPr>
              <a:spcAft>
                <a:spcPts val="2400"/>
              </a:spcAft>
              <a:defRPr sz="1350">
                <a:solidFill>
                  <a:srgbClr val="9A9485"/>
                </a:solidFill>
                <a:latin typeface="Arial"/>
              </a:defRPr>
            </a:pPr>
            <a:r>
              <a:t>에이전트 입력 질의, 출력 토큰, Latency, 디코딩 전략 매개변수 및 Myelin Compiler의 사후 복구 횟수 등을 단일 정형화 규격인 Trace 데이터 모델로 로깅합니다.</a:t>
            </a:r>
          </a:p>
          <a:p>
            <a:pPr>
              <a:spcAft>
                <a:spcPts val="600"/>
              </a:spcAft>
              <a:defRPr sz="1700" b="1">
                <a:solidFill>
                  <a:srgbClr val="FFFCF0"/>
                </a:solidFill>
                <a:latin typeface="IBM Plex Mono"/>
              </a:defRPr>
            </a:pPr>
            <a:r>
              <a:t>14개 범주의 Error Taxonomy</a:t>
            </a:r>
          </a:p>
          <a:p>
            <a:pPr>
              <a:defRPr sz="1350">
                <a:solidFill>
                  <a:srgbClr val="9A9485"/>
                </a:solidFill>
                <a:latin typeface="Arial"/>
              </a:defRPr>
            </a:pPr>
            <a:r>
              <a:t>도구 호출 에러 건에 대하여, 구문 에러/타입 불일치/매개변수 누락/의미론적 오류 등 14개 범주의 Taxonomy 분류 필터를 적용하여 결정론적으로 이상 원인을 태깅합니다.</a:t>
            </a:r>
          </a:p>
        </p:txBody>
      </p:sp>
      <p:sp>
        <p:nvSpPr>
          <p:cNvPr id="7" name="Rectangle 6"/>
          <p:cNvSpPr/>
          <p:nvPr/>
        </p:nvSpPr>
        <p:spPr>
          <a:xfrm>
            <a:off x="6199632" y="1463040"/>
            <a:ext cx="5303520" cy="4297680"/>
          </a:xfrm>
          <a:prstGeom prst="rect">
            <a:avLst/>
          </a:prstGeom>
          <a:solidFill>
            <a:srgbClr val="181C14"/>
          </a:solidFill>
          <a:ln w="19050">
            <a:solidFill>
              <a:srgbClr val="C3E88D"/>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65760"/>
          <a:lstStyle/>
          <a:p>
            <a:pPr algn="ctr">
              <a:spcAft>
                <a:spcPts val="2000"/>
              </a:spcAft>
              <a:defRPr sz="1800" b="1">
                <a:solidFill>
                  <a:srgbClr val="C3E88D"/>
                </a:solidFill>
                <a:latin typeface="IBM Plex Mono"/>
              </a:defRPr>
            </a:pPr>
            <a:r>
              <a:t>🔄 Self-Data Augmentation Loop</a:t>
            </a:r>
          </a:p>
          <a:p>
            <a:pPr>
              <a:lnSpc>
                <a:spcPct val="130000"/>
              </a:lnSpc>
              <a:defRPr sz="1400">
                <a:solidFill>
                  <a:srgbClr val="E8E4D4"/>
                </a:solidFill>
                <a:latin typeface="Arial"/>
              </a:defRPr>
            </a:pPr>
            <a:r>
              <a:t>초기 추론 과정에서 포맷 붕괴나 호출 실수로 에러를 유발했으나, Myelin Compiler의 샌드박스 Repair Loop를 통해 자가 복원 및 실행에 성공한 궤적 로그들을 정제하여 수집합니다.</a:t>
            </a:r>
            <a:br/>
            <a:br/>
            <a:r>
              <a:t>이 '성공 복원'된 트레이스 데이터를 다음 세대의 SFT/DPO 골드 학습 데이터셋으로 자동 환원 피딩함으로써, 추가적인 레이블링 비용 없이 모델의 동작 강건성을 자가 강화시키는 사이클을 완성합니다.</a:t>
            </a:r>
          </a:p>
        </p:txBody>
      </p:sp>
      <p:cxnSp>
        <p:nvCxnSpPr>
          <p:cNvPr id="8" name="Connector 7"/>
          <p:cNvCxnSpPr/>
          <p:nvPr/>
        </p:nvCxnSpPr>
        <p:spPr>
          <a:xfrm>
            <a:off x="685800" y="612648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6263640"/>
            <a:ext cx="5486400" cy="365760"/>
          </a:xfrm>
          <a:prstGeom prst="rect">
            <a:avLst/>
          </a:prstGeom>
          <a:noFill/>
        </p:spPr>
        <p:txBody>
          <a:bodyPr wrap="square" lIns="0" rIns="0" tIns="0" bIns="0">
            <a:spAutoFit/>
          </a:bodyPr>
          <a:lstStyle/>
          <a:p>
            <a:pPr>
              <a:defRPr sz="1000">
                <a:solidFill>
                  <a:srgbClr val="5C564B"/>
                </a:solidFill>
                <a:latin typeface="IBM Plex Mono"/>
              </a:defRPr>
            </a:pPr>
            <a:r>
              <a:t>GANGLION // SYSTEMS CO-DESIGN</a:t>
            </a:r>
          </a:p>
        </p:txBody>
      </p:sp>
      <p:sp>
        <p:nvSpPr>
          <p:cNvPr id="10" name="TextBox 9"/>
          <p:cNvSpPr txBox="1"/>
          <p:nvPr/>
        </p:nvSpPr>
        <p:spPr>
          <a:xfrm>
            <a:off x="8686800" y="6263640"/>
            <a:ext cx="2816352" cy="365760"/>
          </a:xfrm>
          <a:prstGeom prst="rect">
            <a:avLst/>
          </a:prstGeom>
          <a:noFill/>
        </p:spPr>
        <p:txBody>
          <a:bodyPr wrap="square" lIns="0" rIns="0" tIns="0" bIns="0">
            <a:spAutoFit/>
          </a:bodyPr>
          <a:lstStyle/>
          <a:p>
            <a:pPr algn="r">
              <a:defRPr sz="1000">
                <a:solidFill>
                  <a:srgbClr val="5C564B"/>
                </a:solidFill>
                <a:latin typeface="IBM Plex Mono"/>
              </a:defRPr>
            </a:pPr>
            <a:r>
              <a:t>MAY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TextBox 1"/>
          <p:cNvSpPr txBox="1"/>
          <p:nvPr/>
        </p:nvSpPr>
        <p:spPr>
          <a:xfrm>
            <a:off x="685800" y="228600"/>
            <a:ext cx="7315200" cy="320040"/>
          </a:xfrm>
          <a:prstGeom prst="rect">
            <a:avLst/>
          </a:prstGeom>
          <a:noFill/>
        </p:spPr>
        <p:txBody>
          <a:bodyPr wrap="square" lIns="0" rIns="0" tIns="0" bIns="0">
            <a:spAutoFit/>
          </a:bodyPr>
          <a:lstStyle/>
          <a:p>
            <a:pPr>
              <a:defRPr sz="1000" b="1">
                <a:solidFill>
                  <a:srgbClr val="7DD8C6"/>
                </a:solidFill>
                <a:latin typeface="IBM Plex Mono"/>
              </a:defRPr>
            </a:pPr>
            <a:r>
              <a:t>EVALUATION RESULTS</a:t>
            </a:r>
          </a:p>
        </p:txBody>
      </p:sp>
      <p:sp>
        <p:nvSpPr>
          <p:cNvPr id="3" name="TextBox 2"/>
          <p:cNvSpPr txBox="1"/>
          <p:nvPr/>
        </p:nvSpPr>
        <p:spPr>
          <a:xfrm>
            <a:off x="685800" y="502920"/>
            <a:ext cx="8229600" cy="640080"/>
          </a:xfrm>
          <a:prstGeom prst="rect">
            <a:avLst/>
          </a:prstGeom>
          <a:noFill/>
        </p:spPr>
        <p:txBody>
          <a:bodyPr wrap="square" lIns="0" rIns="0" tIns="0" bIns="0">
            <a:spAutoFit/>
          </a:bodyPr>
          <a:lstStyle/>
          <a:p>
            <a:pPr>
              <a:defRPr sz="2400" b="1">
                <a:solidFill>
                  <a:srgbClr val="FFFCF0"/>
                </a:solidFill>
                <a:latin typeface="IBM Plex Mono"/>
              </a:defRPr>
            </a:pPr>
            <a:r>
              <a:t>정량적 실험 평가 및 성과</a:t>
            </a:r>
          </a:p>
        </p:txBody>
      </p:sp>
      <p:sp>
        <p:nvSpPr>
          <p:cNvPr id="4" name="TextBox 3"/>
          <p:cNvSpPr txBox="1"/>
          <p:nvPr/>
        </p:nvSpPr>
        <p:spPr>
          <a:xfrm>
            <a:off x="9601200" y="502920"/>
            <a:ext cx="1828800" cy="640080"/>
          </a:xfrm>
          <a:prstGeom prst="rect">
            <a:avLst/>
          </a:prstGeom>
          <a:noFill/>
        </p:spPr>
        <p:txBody>
          <a:bodyPr wrap="square" lIns="0" rIns="0" tIns="0" bIns="0">
            <a:spAutoFit/>
          </a:bodyPr>
          <a:lstStyle/>
          <a:p>
            <a:pPr algn="r">
              <a:defRPr sz="1100">
                <a:solidFill>
                  <a:srgbClr val="5C564B"/>
                </a:solidFill>
                <a:latin typeface="IBM Plex Mono"/>
              </a:defRPr>
            </a:pPr>
            <a:r>
              <a:t>[ 07 / 08 ]</a:t>
            </a:r>
          </a:p>
        </p:txBody>
      </p:sp>
      <p:cxnSp>
        <p:nvCxnSpPr>
          <p:cNvPr id="5" name="Connector 4"/>
          <p:cNvCxnSpPr/>
          <p:nvPr/>
        </p:nvCxnSpPr>
        <p:spPr>
          <a:xfrm>
            <a:off x="685800" y="118872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685800" y="1463040"/>
          <a:ext cx="5669280" cy="4114800"/>
        </p:xfrm>
        <a:graphic>
          <a:graphicData uri="http://schemas.openxmlformats.org/drawingml/2006/table">
            <a:tbl>
              <a:tblPr firstRow="1" bandRow="1">
                <a:tableStyleId>{5C22544A-7EE6-4342-B048-85BDC9FD1C3A}</a:tableStyleId>
              </a:tblPr>
              <a:tblGrid>
                <a:gridCol w="1828800"/>
                <a:gridCol w="2011680"/>
                <a:gridCol w="1828800"/>
              </a:tblGrid>
              <a:tr h="822960">
                <a:tc>
                  <a:txBody>
                    <a:bodyPr/>
                    <a:lstStyle/>
                    <a:p>
                      <a:pPr>
                        <a:defRPr sz="1100" b="1">
                          <a:solidFill>
                            <a:srgbClr val="9A9485"/>
                          </a:solidFill>
                          <a:latin typeface="IBM Plex Mono"/>
                        </a:defRPr>
                      </a:pPr>
                      <a:r>
                        <a:t>벤치마크</a:t>
                      </a:r>
                    </a:p>
                  </a:txBody>
                  <a:tcPr>
                    <a:solidFill>
                      <a:srgbClr val="181814"/>
                    </a:solidFill>
                  </a:tcPr>
                </a:tc>
                <a:tc>
                  <a:txBody>
                    <a:bodyPr/>
                    <a:lstStyle/>
                    <a:p>
                      <a:pPr>
                        <a:defRPr sz="1100" b="1">
                          <a:solidFill>
                            <a:srgbClr val="9A9485"/>
                          </a:solidFill>
                          <a:latin typeface="IBM Plex Mono"/>
                        </a:defRPr>
                      </a:pPr>
                      <a:r>
                        <a:t>비교 항목</a:t>
                      </a:r>
                    </a:p>
                  </a:txBody>
                  <a:tcPr>
                    <a:solidFill>
                      <a:srgbClr val="181814"/>
                    </a:solidFill>
                  </a:tcPr>
                </a:tc>
                <a:tc>
                  <a:txBody>
                    <a:bodyPr/>
                    <a:lstStyle/>
                    <a:p>
                      <a:pPr>
                        <a:defRPr sz="1100" b="1">
                          <a:solidFill>
                            <a:srgbClr val="9A9485"/>
                          </a:solidFill>
                          <a:latin typeface="IBM Plex Mono"/>
                        </a:defRPr>
                      </a:pPr>
                      <a:r>
                        <a:t>Native 대비 성과</a:t>
                      </a:r>
                    </a:p>
                  </a:txBody>
                  <a:tcPr>
                    <a:solidFill>
                      <a:srgbClr val="181814"/>
                    </a:solidFill>
                  </a:tcPr>
                </a:tc>
              </a:tr>
              <a:tr h="822960">
                <a:tc>
                  <a:txBody>
                    <a:bodyPr/>
                    <a:lstStyle/>
                    <a:p>
                      <a:pPr>
                        <a:defRPr sz="1150" b="0">
                          <a:solidFill>
                            <a:srgbClr val="E8E4D4"/>
                          </a:solidFill>
                          <a:latin typeface="IBM Plex Mono"/>
                        </a:defRPr>
                      </a:pPr>
                      <a:r>
                        <a:t>IoT (50 tools)</a:t>
                      </a:r>
                    </a:p>
                  </a:txBody>
                  <a:tcPr>
                    <a:solidFill>
                      <a:srgbClr val="0E0E0C"/>
                    </a:solidFill>
                  </a:tcPr>
                </a:tc>
                <a:tc>
                  <a:txBody>
                    <a:bodyPr/>
                    <a:lstStyle/>
                    <a:p>
                      <a:pPr>
                        <a:defRPr sz="1150" b="0">
                          <a:solidFill>
                            <a:srgbClr val="E8E4D4"/>
                          </a:solidFill>
                          <a:latin typeface="IBM Plex Mono"/>
                        </a:defRPr>
                      </a:pPr>
                      <a:r>
                        <a:t>입력 토큰 절감률</a:t>
                      </a:r>
                    </a:p>
                  </a:txBody>
                  <a:tcPr>
                    <a:solidFill>
                      <a:srgbClr val="0E0E0C"/>
                    </a:solidFill>
                  </a:tcPr>
                </a:tc>
                <a:tc>
                  <a:txBody>
                    <a:bodyPr/>
                    <a:lstStyle/>
                    <a:p>
                      <a:pPr>
                        <a:defRPr sz="1150" b="1">
                          <a:solidFill>
                            <a:srgbClr val="C3E88D"/>
                          </a:solidFill>
                          <a:latin typeface="IBM Plex Mono"/>
                        </a:defRPr>
                      </a:pPr>
                      <a:r>
                        <a:t>68.5% 절감</a:t>
                      </a:r>
                    </a:p>
                  </a:txBody>
                  <a:tcPr>
                    <a:solidFill>
                      <a:srgbClr val="0E0E0C"/>
                    </a:solidFill>
                  </a:tcPr>
                </a:tc>
              </a:tr>
              <a:tr h="822960">
                <a:tc>
                  <a:txBody>
                    <a:bodyPr/>
                    <a:lstStyle/>
                    <a:p>
                      <a:pPr>
                        <a:defRPr sz="1150" b="0">
                          <a:solidFill>
                            <a:srgbClr val="E8E4D4"/>
                          </a:solidFill>
                          <a:latin typeface="IBM Plex Mono"/>
                        </a:defRPr>
                      </a:pPr>
                      <a:r>
                        <a:t>IoT (n=250)</a:t>
                      </a:r>
                    </a:p>
                  </a:txBody>
                  <a:tcPr>
                    <a:solidFill>
                      <a:srgbClr val="0E0E0C"/>
                    </a:solidFill>
                  </a:tcPr>
                </a:tc>
                <a:tc>
                  <a:txBody>
                    <a:bodyPr/>
                    <a:lstStyle/>
                    <a:p>
                      <a:pPr>
                        <a:defRPr sz="1150" b="0">
                          <a:solidFill>
                            <a:srgbClr val="E8E4D4"/>
                          </a:solidFill>
                          <a:latin typeface="IBM Plex Mono"/>
                        </a:defRPr>
                      </a:pPr>
                      <a:r>
                        <a:t>추론 지연 (Latency)</a:t>
                      </a:r>
                    </a:p>
                  </a:txBody>
                  <a:tcPr>
                    <a:solidFill>
                      <a:srgbClr val="0E0E0C"/>
                    </a:solidFill>
                  </a:tcPr>
                </a:tc>
                <a:tc>
                  <a:txBody>
                    <a:bodyPr/>
                    <a:lstStyle/>
                    <a:p>
                      <a:pPr>
                        <a:defRPr sz="1150" b="1">
                          <a:solidFill>
                            <a:srgbClr val="C3E88D"/>
                          </a:solidFill>
                          <a:latin typeface="IBM Plex Mono"/>
                        </a:defRPr>
                      </a:pPr>
                      <a:r>
                        <a:t>19.0% (339ms) 단축</a:t>
                      </a:r>
                    </a:p>
                  </a:txBody>
                  <a:tcPr>
                    <a:solidFill>
                      <a:srgbClr val="0E0E0C"/>
                    </a:solidFill>
                  </a:tcPr>
                </a:tc>
              </a:tr>
              <a:tr h="822960">
                <a:tc>
                  <a:txBody>
                    <a:bodyPr/>
                    <a:lstStyle/>
                    <a:p>
                      <a:pPr>
                        <a:defRPr sz="1150" b="0">
                          <a:solidFill>
                            <a:srgbClr val="E8E4D4"/>
                          </a:solidFill>
                          <a:latin typeface="IBM Plex Mono"/>
                        </a:defRPr>
                      </a:pPr>
                      <a:r>
                        <a:t>BFCL v4 (0.6B)</a:t>
                      </a:r>
                    </a:p>
                  </a:txBody>
                  <a:tcPr>
                    <a:solidFill>
                      <a:srgbClr val="0E0E0C"/>
                    </a:solidFill>
                  </a:tcPr>
                </a:tc>
                <a:tc>
                  <a:txBody>
                    <a:bodyPr/>
                    <a:lstStyle/>
                    <a:p>
                      <a:pPr>
                        <a:defRPr sz="1150" b="0">
                          <a:solidFill>
                            <a:srgbClr val="E8E4D4"/>
                          </a:solidFill>
                          <a:latin typeface="IBM Plex Mono"/>
                        </a:defRPr>
                      </a:pPr>
                      <a:r>
                        <a:t>종합 정확도 (AST)</a:t>
                      </a:r>
                    </a:p>
                  </a:txBody>
                  <a:tcPr>
                    <a:solidFill>
                      <a:srgbClr val="0E0E0C"/>
                    </a:solidFill>
                  </a:tcPr>
                </a:tc>
                <a:tc>
                  <a:txBody>
                    <a:bodyPr/>
                    <a:lstStyle/>
                    <a:p>
                      <a:pPr>
                        <a:defRPr sz="1150" b="0">
                          <a:solidFill>
                            <a:srgbClr val="C3E88D"/>
                          </a:solidFill>
                          <a:latin typeface="IBM Plex Mono"/>
                        </a:defRPr>
                      </a:pPr>
                      <a:r>
                        <a:t>91.2% vs 31.4% (+59.8%)</a:t>
                      </a:r>
                    </a:p>
                  </a:txBody>
                  <a:tcPr>
                    <a:solidFill>
                      <a:srgbClr val="0E0E0C"/>
                    </a:solidFill>
                  </a:tcPr>
                </a:tc>
              </a:tr>
              <a:tr h="822960">
                <a:tc>
                  <a:txBody>
                    <a:bodyPr/>
                    <a:lstStyle/>
                    <a:p>
                      <a:pPr>
                        <a:defRPr sz="1150" b="0">
                          <a:solidFill>
                            <a:srgbClr val="E8E4D4"/>
                          </a:solidFill>
                          <a:latin typeface="IBM Plex Mono"/>
                        </a:defRPr>
                      </a:pPr>
                      <a:r>
                        <a:t>BFCL (Irrelevance)</a:t>
                      </a:r>
                    </a:p>
                  </a:txBody>
                  <a:tcPr>
                    <a:solidFill>
                      <a:srgbClr val="0E0E0C"/>
                    </a:solidFill>
                  </a:tcPr>
                </a:tc>
                <a:tc>
                  <a:txBody>
                    <a:bodyPr/>
                    <a:lstStyle/>
                    <a:p>
                      <a:pPr>
                        <a:defRPr sz="1150" b="0">
                          <a:solidFill>
                            <a:srgbClr val="E8E4D4"/>
                          </a:solidFill>
                          <a:latin typeface="IBM Plex Mono"/>
                        </a:defRPr>
                      </a:pPr>
                      <a:r>
                        <a:t>No-Call 정확도</a:t>
                      </a:r>
                    </a:p>
                  </a:txBody>
                  <a:tcPr>
                    <a:solidFill>
                      <a:srgbClr val="0E0E0C"/>
                    </a:solidFill>
                  </a:tcPr>
                </a:tc>
                <a:tc>
                  <a:txBody>
                    <a:bodyPr/>
                    <a:lstStyle/>
                    <a:p>
                      <a:pPr>
                        <a:defRPr sz="1150" b="0">
                          <a:solidFill>
                            <a:srgbClr val="C3E88D"/>
                          </a:solidFill>
                          <a:latin typeface="IBM Plex Mono"/>
                        </a:defRPr>
                      </a:pPr>
                      <a:r>
                        <a:t>100.0% vs 0.0%</a:t>
                      </a:r>
                    </a:p>
                  </a:txBody>
                  <a:tcPr>
                    <a:solidFill>
                      <a:srgbClr val="0E0E0C"/>
                    </a:solidFill>
                  </a:tcPr>
                </a:tc>
              </a:tr>
            </a:tbl>
          </a:graphicData>
        </a:graphic>
      </p:graphicFrame>
      <p:sp>
        <p:nvSpPr>
          <p:cNvPr id="7" name="TextBox 6"/>
          <p:cNvSpPr txBox="1"/>
          <p:nvPr/>
        </p:nvSpPr>
        <p:spPr>
          <a:xfrm>
            <a:off x="6675120" y="1463040"/>
            <a:ext cx="4846320" cy="457200"/>
          </a:xfrm>
          <a:prstGeom prst="rect">
            <a:avLst/>
          </a:prstGeom>
          <a:noFill/>
        </p:spPr>
        <p:txBody>
          <a:bodyPr wrap="square" lIns="0" rIns="0" tIns="0" bIns="0">
            <a:spAutoFit/>
          </a:bodyPr>
          <a:lstStyle/>
          <a:p>
            <a:pPr>
              <a:defRPr sz="1600" b="1">
                <a:solidFill>
                  <a:srgbClr val="7DD8C6"/>
                </a:solidFill>
                <a:latin typeface="IBM Plex Mono"/>
              </a:defRPr>
            </a:pPr>
            <a:r>
              <a:t>📉 Reflex-LM (0.6B) Capacity Cliff 극복</a:t>
            </a:r>
          </a:p>
        </p:txBody>
      </p:sp>
      <p:sp>
        <p:nvSpPr>
          <p:cNvPr id="8" name="Rectangle 7"/>
          <p:cNvSpPr/>
          <p:nvPr/>
        </p:nvSpPr>
        <p:spPr>
          <a:xfrm>
            <a:off x="6675120" y="2011680"/>
            <a:ext cx="2286000" cy="1371600"/>
          </a:xfrm>
          <a:prstGeom prst="rect">
            <a:avLst/>
          </a:prstGeom>
          <a:solidFill>
            <a:srgbClr val="181814"/>
          </a:solidFill>
          <a:ln w="19050">
            <a:solidFill>
              <a:srgbClr val="3D3D3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F4B860"/>
                </a:solidFill>
                <a:latin typeface="IBM Plex Mono"/>
              </a:defRPr>
            </a:pPr>
            <a:r>
              <a:t>31.4%</a:t>
            </a:r>
          </a:p>
          <a:p>
            <a:pPr algn="ctr">
              <a:spcBef>
                <a:spcPts val="400"/>
              </a:spcBef>
              <a:defRPr sz="1000">
                <a:solidFill>
                  <a:srgbClr val="9A9485"/>
                </a:solidFill>
                <a:latin typeface="Arial"/>
              </a:defRPr>
            </a:pPr>
            <a:r>
              <a:t>Untuned Native Baseline</a:t>
            </a:r>
            <a:br/>
            <a:r>
              <a:t>(병렬 호출 및 거부 실패)</a:t>
            </a:r>
          </a:p>
        </p:txBody>
      </p:sp>
      <p:sp>
        <p:nvSpPr>
          <p:cNvPr id="9" name="Rectangle 8"/>
          <p:cNvSpPr/>
          <p:nvPr/>
        </p:nvSpPr>
        <p:spPr>
          <a:xfrm>
            <a:off x="9235440" y="2011680"/>
            <a:ext cx="2286000" cy="1371600"/>
          </a:xfrm>
          <a:prstGeom prst="rect">
            <a:avLst/>
          </a:prstGeom>
          <a:solidFill>
            <a:srgbClr val="181814"/>
          </a:solidFill>
          <a:ln w="19050">
            <a:solidFill>
              <a:srgbClr val="C3E88D"/>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C3E88D"/>
                </a:solidFill>
                <a:latin typeface="IBM Plex Mono"/>
              </a:defRPr>
            </a:pPr>
            <a:r>
              <a:t>91.2%</a:t>
            </a:r>
          </a:p>
          <a:p>
            <a:pPr algn="ctr">
              <a:spcBef>
                <a:spcPts val="400"/>
              </a:spcBef>
              <a:defRPr sz="1000">
                <a:solidFill>
                  <a:srgbClr val="9A9485"/>
                </a:solidFill>
                <a:latin typeface="Arial"/>
              </a:defRPr>
            </a:pPr>
            <a:r>
              <a:t>SFT + Myelin Compiler</a:t>
            </a:r>
            <a:br/>
            <a:r>
              <a:t>(사후 최적화 보정보완 완료)</a:t>
            </a:r>
          </a:p>
        </p:txBody>
      </p:sp>
      <p:sp>
        <p:nvSpPr>
          <p:cNvPr id="10" name="TextBox 9"/>
          <p:cNvSpPr txBox="1"/>
          <p:nvPr/>
        </p:nvSpPr>
        <p:spPr>
          <a:xfrm>
            <a:off x="6675120" y="3566160"/>
            <a:ext cx="4846320" cy="2011680"/>
          </a:xfrm>
          <a:prstGeom prst="rect">
            <a:avLst/>
          </a:prstGeom>
          <a:noFill/>
        </p:spPr>
        <p:txBody>
          <a:bodyPr wrap="square" lIns="0" rIns="0" tIns="0" bIns="0">
            <a:spAutoFit/>
          </a:bodyPr>
          <a:lstStyle/>
          <a:p>
            <a:pPr>
              <a:lnSpc>
                <a:spcPct val="130000"/>
              </a:lnSpc>
              <a:defRPr sz="1200">
                <a:solidFill>
                  <a:srgbClr val="E8E4D4"/>
                </a:solidFill>
                <a:latin typeface="Arial"/>
              </a:defRPr>
            </a:pPr>
            <a:r>
              <a:t>· 0.6B 초경량 파라미터 모델 특성상 학습 전에는 복수/병렬 도구 선택(Parallel Call) 시 심각한 문법 붕괴를 보이며 성공률이 0%에 수렴했었습니다.</a:t>
            </a:r>
            <a:br/>
            <a:br/>
            <a:r>
              <a:t>· 하지만 명세 기반 SFT와 Myelin Compiler의 EBNF 제약 및 동적 인자 보정(Post-Correction)을 융합 적용한 결과, 종합 Macro Avg 91.2%의 고성능 툴 호출을 달성하며 소형 에이전트 적용 가능성을 입증했습니다.</a:t>
            </a:r>
          </a:p>
        </p:txBody>
      </p:sp>
      <p:cxnSp>
        <p:nvCxnSpPr>
          <p:cNvPr id="11" name="Connector 10"/>
          <p:cNvCxnSpPr/>
          <p:nvPr/>
        </p:nvCxnSpPr>
        <p:spPr>
          <a:xfrm>
            <a:off x="685800" y="612648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6263640"/>
            <a:ext cx="5486400" cy="365760"/>
          </a:xfrm>
          <a:prstGeom prst="rect">
            <a:avLst/>
          </a:prstGeom>
          <a:noFill/>
        </p:spPr>
        <p:txBody>
          <a:bodyPr wrap="square" lIns="0" rIns="0" tIns="0" bIns="0">
            <a:spAutoFit/>
          </a:bodyPr>
          <a:lstStyle/>
          <a:p>
            <a:pPr>
              <a:defRPr sz="1000">
                <a:solidFill>
                  <a:srgbClr val="5C564B"/>
                </a:solidFill>
                <a:latin typeface="IBM Plex Mono"/>
              </a:defRPr>
            </a:pPr>
            <a:r>
              <a:t>GANGLION // SYSTEMS CO-DESIGN</a:t>
            </a:r>
          </a:p>
        </p:txBody>
      </p:sp>
      <p:sp>
        <p:nvSpPr>
          <p:cNvPr id="13" name="TextBox 12"/>
          <p:cNvSpPr txBox="1"/>
          <p:nvPr/>
        </p:nvSpPr>
        <p:spPr>
          <a:xfrm>
            <a:off x="8686800" y="6263640"/>
            <a:ext cx="2816352" cy="365760"/>
          </a:xfrm>
          <a:prstGeom prst="rect">
            <a:avLst/>
          </a:prstGeom>
          <a:noFill/>
        </p:spPr>
        <p:txBody>
          <a:bodyPr wrap="square" lIns="0" rIns="0" tIns="0" bIns="0">
            <a:spAutoFit/>
          </a:bodyPr>
          <a:lstStyle/>
          <a:p>
            <a:pPr algn="r">
              <a:defRPr sz="1000">
                <a:solidFill>
                  <a:srgbClr val="5C564B"/>
                </a:solidFill>
                <a:latin typeface="IBM Plex Mono"/>
              </a:defRPr>
            </a:pPr>
            <a:r>
              <a:t>MAY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0E0C"/>
        </a:solidFill>
        <a:effectLst/>
      </p:bgPr>
    </p:bg>
    <p:spTree>
      <p:nvGrpSpPr>
        <p:cNvPr id="1" name=""/>
        <p:cNvGrpSpPr/>
        <p:nvPr/>
      </p:nvGrpSpPr>
      <p:grpSpPr/>
      <p:sp>
        <p:nvSpPr>
          <p:cNvPr id="2" name="TextBox 1"/>
          <p:cNvSpPr txBox="1"/>
          <p:nvPr/>
        </p:nvSpPr>
        <p:spPr>
          <a:xfrm>
            <a:off x="685800" y="228600"/>
            <a:ext cx="7315200" cy="320040"/>
          </a:xfrm>
          <a:prstGeom prst="rect">
            <a:avLst/>
          </a:prstGeom>
          <a:noFill/>
        </p:spPr>
        <p:txBody>
          <a:bodyPr wrap="square" lIns="0" rIns="0" tIns="0" bIns="0">
            <a:spAutoFit/>
          </a:bodyPr>
          <a:lstStyle/>
          <a:p>
            <a:pPr>
              <a:defRPr sz="1000" b="1">
                <a:solidFill>
                  <a:srgbClr val="7DD8C6"/>
                </a:solidFill>
                <a:latin typeface="IBM Plex Mono"/>
              </a:defRPr>
            </a:pPr>
            <a:r>
              <a:t>ROADMAP &amp; DISCUSSION</a:t>
            </a:r>
          </a:p>
        </p:txBody>
      </p:sp>
      <p:sp>
        <p:nvSpPr>
          <p:cNvPr id="3" name="TextBox 2"/>
          <p:cNvSpPr txBox="1"/>
          <p:nvPr/>
        </p:nvSpPr>
        <p:spPr>
          <a:xfrm>
            <a:off x="685800" y="502920"/>
            <a:ext cx="8229600" cy="640080"/>
          </a:xfrm>
          <a:prstGeom prst="rect">
            <a:avLst/>
          </a:prstGeom>
          <a:noFill/>
        </p:spPr>
        <p:txBody>
          <a:bodyPr wrap="square" lIns="0" rIns="0" tIns="0" bIns="0">
            <a:spAutoFit/>
          </a:bodyPr>
          <a:lstStyle/>
          <a:p>
            <a:pPr>
              <a:defRPr sz="2400" b="1">
                <a:solidFill>
                  <a:srgbClr val="FFFCF0"/>
                </a:solidFill>
                <a:latin typeface="IBM Plex Mono"/>
              </a:defRPr>
            </a:pPr>
            <a:r>
              <a:t>TBD &amp; 향후 연구 계획 (Discussion)</a:t>
            </a:r>
          </a:p>
        </p:txBody>
      </p:sp>
      <p:sp>
        <p:nvSpPr>
          <p:cNvPr id="4" name="TextBox 3"/>
          <p:cNvSpPr txBox="1"/>
          <p:nvPr/>
        </p:nvSpPr>
        <p:spPr>
          <a:xfrm>
            <a:off x="9601200" y="502920"/>
            <a:ext cx="1828800" cy="640080"/>
          </a:xfrm>
          <a:prstGeom prst="rect">
            <a:avLst/>
          </a:prstGeom>
          <a:noFill/>
        </p:spPr>
        <p:txBody>
          <a:bodyPr wrap="square" lIns="0" rIns="0" tIns="0" bIns="0">
            <a:spAutoFit/>
          </a:bodyPr>
          <a:lstStyle/>
          <a:p>
            <a:pPr algn="r">
              <a:defRPr sz="1100">
                <a:solidFill>
                  <a:srgbClr val="5C564B"/>
                </a:solidFill>
                <a:latin typeface="IBM Plex Mono"/>
              </a:defRPr>
            </a:pPr>
            <a:r>
              <a:t>[ 08 / 08 ]</a:t>
            </a:r>
          </a:p>
        </p:txBody>
      </p:sp>
      <p:cxnSp>
        <p:nvCxnSpPr>
          <p:cNvPr id="5" name="Connector 4"/>
          <p:cNvCxnSpPr/>
          <p:nvPr/>
        </p:nvCxnSpPr>
        <p:spPr>
          <a:xfrm>
            <a:off x="685800" y="118872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1463040"/>
            <a:ext cx="5303520" cy="4297680"/>
          </a:xfrm>
          <a:prstGeom prst="rect">
            <a:avLst/>
          </a:prstGeom>
          <a:noFill/>
        </p:spPr>
        <p:txBody>
          <a:bodyPr wrap="square" lIns="0" rIns="0" tIns="0" bIns="0">
            <a:spAutoFit/>
          </a:bodyPr>
          <a:lstStyle/>
          <a:p>
            <a:pPr>
              <a:spcAft>
                <a:spcPts val="2000"/>
              </a:spcAft>
              <a:defRPr sz="1800" b="1">
                <a:solidFill>
                  <a:srgbClr val="7DD8C6"/>
                </a:solidFill>
                <a:latin typeface="IBM Plex Mono"/>
              </a:defRPr>
            </a:pPr>
            <a:r>
              <a:t>🛠️ Engineering TBDs</a:t>
            </a:r>
          </a:p>
          <a:p>
            <a:pPr>
              <a:spcAft>
                <a:spcPts val="400"/>
              </a:spcAft>
              <a:defRPr sz="1450" b="1">
                <a:solidFill>
                  <a:srgbClr val="FFFCF0"/>
                </a:solidFill>
                <a:latin typeface="IBM Plex Mono"/>
              </a:defRPr>
            </a:pPr>
            <a:r>
              <a:t>· 네임스페이스 Refactoring</a:t>
            </a:r>
          </a:p>
          <a:p>
            <a:pPr>
              <a:spcAft>
                <a:spcPts val="1600"/>
              </a:spcAft>
              <a:defRPr sz="1300">
                <a:solidFill>
                  <a:srgbClr val="9A9485"/>
                </a:solidFill>
                <a:latin typeface="Arial"/>
              </a:defRPr>
            </a:pPr>
            <a:r>
              <a:t>레거시 코드를 말끔하게 제거하고 생체/신경학 구조를 본뜬 모듈 명세인 dendrite(규격), soma(추론), glia(분석) 테마로 최종 포팅 작업을 전개합니다.</a:t>
            </a:r>
          </a:p>
          <a:p>
            <a:pPr>
              <a:spcAft>
                <a:spcPts val="400"/>
              </a:spcAft>
              <a:defRPr sz="1450" b="1">
                <a:solidFill>
                  <a:srgbClr val="FFFCF0"/>
                </a:solidFill>
                <a:latin typeface="IBM Plex Mono"/>
              </a:defRPr>
            </a:pPr>
            <a:r>
              <a:t>· MCP (Model Context Protocol) 연동</a:t>
            </a:r>
          </a:p>
          <a:p>
            <a:pPr>
              <a:defRPr sz="1300">
                <a:solidFill>
                  <a:srgbClr val="9A9485"/>
                </a:solidFill>
                <a:latin typeface="Arial"/>
              </a:defRPr>
            </a:pPr>
            <a:r>
              <a:t>앤트로픽 주도의 범용 도구 표준 프로토콜 스펙을 지원하여, Ganglion 공정을 통한 범용 에이전트 인프라와의 결합 실효성을 테스트합니다.</a:t>
            </a:r>
          </a:p>
        </p:txBody>
      </p:sp>
      <p:sp>
        <p:nvSpPr>
          <p:cNvPr id="7" name="TextBox 6"/>
          <p:cNvSpPr txBox="1"/>
          <p:nvPr/>
        </p:nvSpPr>
        <p:spPr>
          <a:xfrm>
            <a:off x="6199632" y="1463040"/>
            <a:ext cx="5303520" cy="4297680"/>
          </a:xfrm>
          <a:prstGeom prst="rect">
            <a:avLst/>
          </a:prstGeom>
          <a:noFill/>
        </p:spPr>
        <p:txBody>
          <a:bodyPr wrap="square" lIns="0" rIns="0" tIns="0" bIns="0">
            <a:spAutoFit/>
          </a:bodyPr>
          <a:lstStyle/>
          <a:p>
            <a:pPr>
              <a:spcAft>
                <a:spcPts val="2000"/>
              </a:spcAft>
              <a:defRPr sz="1800" b="1">
                <a:solidFill>
                  <a:srgbClr val="F4B860"/>
                </a:solidFill>
                <a:latin typeface="IBM Plex Mono"/>
              </a:defRPr>
            </a:pPr>
            <a:r>
              <a:t>🎓 Academic Discussions</a:t>
            </a:r>
          </a:p>
          <a:p>
            <a:pPr>
              <a:spcAft>
                <a:spcPts val="400"/>
              </a:spcAft>
              <a:defRPr sz="1450" b="1">
                <a:solidFill>
                  <a:srgbClr val="FFFCF0"/>
                </a:solidFill>
                <a:latin typeface="IBM Plex Mono"/>
              </a:defRPr>
            </a:pPr>
            <a:r>
              <a:t>· Holdout 일반화 및 오버피팅 극복</a:t>
            </a:r>
          </a:p>
          <a:p>
            <a:pPr>
              <a:spcAft>
                <a:spcPts val="1600"/>
              </a:spcAft>
              <a:defRPr sz="1300">
                <a:solidFill>
                  <a:srgbClr val="9A9485"/>
                </a:solidFill>
                <a:latin typeface="Arial"/>
              </a:defRPr>
            </a:pPr>
            <a:r>
              <a:t>합성 데이터에 의존한 학습 시 발생하는 미학습 도메인 거동 저하를 막기 위해 Entity Swap, Context Variation 증강 가이드라인을 수립합니다.</a:t>
            </a:r>
          </a:p>
          <a:p>
            <a:pPr>
              <a:spcAft>
                <a:spcPts val="400"/>
              </a:spcAft>
              <a:defRPr sz="1450" b="1">
                <a:solidFill>
                  <a:srgbClr val="FFFCF0"/>
                </a:solidFill>
                <a:latin typeface="IBM Plex Mono"/>
              </a:defRPr>
            </a:pPr>
            <a:r>
              <a:t>· Verifier-Driven GRPO 적용</a:t>
            </a:r>
          </a:p>
          <a:p>
            <a:pPr>
              <a:defRPr sz="1300">
                <a:solidFill>
                  <a:srgbClr val="9A9485"/>
                </a:solidFill>
                <a:latin typeface="Arial"/>
              </a:defRPr>
            </a:pPr>
            <a:r>
              <a:t>Myelin Compiler의 정교한 룰 엔진을 무비용 보상 함수(Reward Function)로 활용하여, 강화학습(GRPO) 기반의 에이전트 행동 정렬 타당성을 자문합니다.</a:t>
            </a:r>
          </a:p>
        </p:txBody>
      </p:sp>
      <p:cxnSp>
        <p:nvCxnSpPr>
          <p:cNvPr id="8" name="Connector 7"/>
          <p:cNvCxnSpPr/>
          <p:nvPr/>
        </p:nvCxnSpPr>
        <p:spPr>
          <a:xfrm>
            <a:off x="685800" y="6126480"/>
            <a:ext cx="10817352" cy="0"/>
          </a:xfrm>
          <a:prstGeom prst="line">
            <a:avLst/>
          </a:prstGeom>
          <a:ln w="19050">
            <a:solidFill>
              <a:srgbClr val="2A2A2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6263640"/>
            <a:ext cx="5486400" cy="365760"/>
          </a:xfrm>
          <a:prstGeom prst="rect">
            <a:avLst/>
          </a:prstGeom>
          <a:noFill/>
        </p:spPr>
        <p:txBody>
          <a:bodyPr wrap="square" lIns="0" rIns="0" tIns="0" bIns="0">
            <a:spAutoFit/>
          </a:bodyPr>
          <a:lstStyle/>
          <a:p>
            <a:pPr>
              <a:defRPr sz="1000">
                <a:solidFill>
                  <a:srgbClr val="5C564B"/>
                </a:solidFill>
                <a:latin typeface="IBM Plex Mono"/>
              </a:defRPr>
            </a:pPr>
            <a:r>
              <a:t>GANGLION // SYSTEMS CO-DESIGN</a:t>
            </a:r>
          </a:p>
        </p:txBody>
      </p:sp>
      <p:sp>
        <p:nvSpPr>
          <p:cNvPr id="10" name="TextBox 9"/>
          <p:cNvSpPr txBox="1"/>
          <p:nvPr/>
        </p:nvSpPr>
        <p:spPr>
          <a:xfrm>
            <a:off x="8686800" y="6263640"/>
            <a:ext cx="2816352" cy="365760"/>
          </a:xfrm>
          <a:prstGeom prst="rect">
            <a:avLst/>
          </a:prstGeom>
          <a:noFill/>
        </p:spPr>
        <p:txBody>
          <a:bodyPr wrap="square" lIns="0" rIns="0" tIns="0" bIns="0">
            <a:spAutoFit/>
          </a:bodyPr>
          <a:lstStyle/>
          <a:p>
            <a:pPr algn="r">
              <a:defRPr sz="1000">
                <a:solidFill>
                  <a:srgbClr val="5C564B"/>
                </a:solidFill>
                <a:latin typeface="IBM Plex Mono"/>
              </a:defRPr>
            </a:pPr>
            <a:r>
              <a:t>MAY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